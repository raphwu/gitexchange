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12"/>
  </p:notesMasterIdLst>
  <p:handoutMasterIdLst>
    <p:handoutMasterId r:id="rId13"/>
  </p:handoutMasterIdLst>
  <p:sldIdLst>
    <p:sldId id="1161" r:id="rId2"/>
    <p:sldId id="1773" r:id="rId3"/>
    <p:sldId id="1809" r:id="rId4"/>
    <p:sldId id="1771" r:id="rId5"/>
    <p:sldId id="1802" r:id="rId6"/>
    <p:sldId id="1805" r:id="rId7"/>
    <p:sldId id="1806" r:id="rId8"/>
    <p:sldId id="1808" r:id="rId9"/>
    <p:sldId id="1803" r:id="rId10"/>
    <p:sldId id="1807" r:id="rId11"/>
  </p:sldIdLst>
  <p:sldSz cx="9144000" cy="6858000" type="screen4x3"/>
  <p:notesSz cx="9866313" cy="142954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227519E2-A0D3-4B5B-94BE-A13338663232}">
          <p14:sldIdLst>
            <p14:sldId id="1161"/>
            <p14:sldId id="1773"/>
            <p14:sldId id="1809"/>
            <p14:sldId id="1771"/>
          </p14:sldIdLst>
        </p14:section>
        <p14:section name="旋入機" id="{6E21C94B-659B-486C-8749-ABB8554147FA}">
          <p14:sldIdLst/>
        </p14:section>
        <p14:section name="切割機" id="{C4586997-6D46-442B-8509-C2FA808EFB70}">
          <p14:sldIdLst/>
        </p14:section>
        <p14:section name="FAU" id="{4B8F02B5-416E-41FC-AC52-3586BD47D4AF}">
          <p14:sldIdLst>
            <p14:sldId id="1802"/>
            <p14:sldId id="1805"/>
            <p14:sldId id="1806"/>
            <p14:sldId id="1808"/>
            <p14:sldId id="1803"/>
          </p14:sldIdLst>
        </p14:section>
        <p14:section name="維修/改機" id="{61EABBFE-1824-4B3D-92C1-02F542C96554}">
          <p14:sldIdLst>
            <p14:sldId id="1807"/>
          </p14:sldIdLst>
        </p14:section>
      </p14:sectionLst>
    </p:ex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107">
          <p15:clr>
            <a:srgbClr val="A4A3A4"/>
          </p15:clr>
        </p15:guide>
        <p15:guide id="2" pos="2122">
          <p15:clr>
            <a:srgbClr val="A4A3A4"/>
          </p15:clr>
        </p15:guide>
        <p15:guide id="3" orient="horz" pos="4502">
          <p15:clr>
            <a:srgbClr val="A4A3A4"/>
          </p15:clr>
        </p15:guide>
        <p15:guide id="4" pos="31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A7D1"/>
    <a:srgbClr val="FF9900"/>
    <a:srgbClr val="006666"/>
    <a:srgbClr val="008000"/>
    <a:srgbClr val="FF0066"/>
    <a:srgbClr val="FF3300"/>
    <a:srgbClr val="FFFF99"/>
    <a:srgbClr val="FF00FF"/>
    <a:srgbClr val="FFFF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592949-E5C0-49C6-91D1-A07258157EBB}" v="311" dt="2026-04-28T16:56:16.7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929F9F4-4A8F-4326-A1B4-22849713DDAB}" styleName="深色樣式 1 - 輔色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327F97BB-C833-4FB7-BDE5-3F7075034690}" styleName="佈景主題樣式 2 - 輔色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AF606853-7671-496A-8E4F-DF71F8EC918B}" styleName="深色樣式 1 - 輔色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佈景主題樣式 2 - 輔色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8034E78-7F5D-4C2E-B375-FC64B27BC917}" styleName="深色樣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04" autoAdjust="0"/>
    <p:restoredTop sz="94548" autoAdjust="0"/>
  </p:normalViewPr>
  <p:slideViewPr>
    <p:cSldViewPr>
      <p:cViewPr>
        <p:scale>
          <a:sx n="100" d="100"/>
          <a:sy n="100" d="100"/>
        </p:scale>
        <p:origin x="-2472" y="-2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1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-1950" y="-108"/>
      </p:cViewPr>
      <p:guideLst>
        <p:guide orient="horz" pos="3107"/>
        <p:guide orient="horz" pos="4502"/>
        <p:guide pos="2122"/>
        <p:guide pos="31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phael Wu" userId="222e91bd63df5811" providerId="LiveId" clId="{534A9F1F-5294-42C7-A279-6BCD5E88610A}"/>
    <pc:docChg chg="undo redo custSel addSld delSld modSld modSection">
      <pc:chgData name="Raphael Wu" userId="222e91bd63df5811" providerId="LiveId" clId="{534A9F1F-5294-42C7-A279-6BCD5E88610A}" dt="2026-04-28T16:56:16.771" v="657"/>
      <pc:docMkLst>
        <pc:docMk/>
      </pc:docMkLst>
      <pc:sldChg chg="addSp delSp modSp mod modClrScheme chgLayout">
        <pc:chgData name="Raphael Wu" userId="222e91bd63df5811" providerId="LiveId" clId="{534A9F1F-5294-42C7-A279-6BCD5E88610A}" dt="2026-04-28T16:56:16.771" v="657"/>
        <pc:sldMkLst>
          <pc:docMk/>
          <pc:sldMk cId="1932736482" sldId="1786"/>
        </pc:sldMkLst>
        <pc:spChg chg="add mod">
          <ac:chgData name="Raphael Wu" userId="222e91bd63df5811" providerId="LiveId" clId="{534A9F1F-5294-42C7-A279-6BCD5E88610A}" dt="2026-04-28T16:56:16.771" v="657"/>
          <ac:spMkLst>
            <pc:docMk/>
            <pc:sldMk cId="1932736482" sldId="1786"/>
            <ac:spMk id="2" creationId="{6263174D-9A64-366A-6A59-F4F84DDA189A}"/>
          </ac:spMkLst>
        </pc:spChg>
        <pc:spChg chg="mod">
          <ac:chgData name="Raphael Wu" userId="222e91bd63df5811" providerId="LiveId" clId="{534A9F1F-5294-42C7-A279-6BCD5E88610A}" dt="2026-04-28T16:49:53.024" v="315" actId="6549"/>
          <ac:spMkLst>
            <pc:docMk/>
            <pc:sldMk cId="1932736482" sldId="1786"/>
            <ac:spMk id="7" creationId="{00000000-0000-0000-0000-000000000000}"/>
          </ac:spMkLst>
        </pc:spChg>
        <pc:spChg chg="add del mod">
          <ac:chgData name="Raphael Wu" userId="222e91bd63df5811" providerId="LiveId" clId="{534A9F1F-5294-42C7-A279-6BCD5E88610A}" dt="2026-04-28T16:28:50.600" v="127" actId="26606"/>
          <ac:spMkLst>
            <pc:docMk/>
            <pc:sldMk cId="1932736482" sldId="1786"/>
            <ac:spMk id="4102" creationId="{2F0A4A04-5D0A-3564-8B34-22F0368FA1CC}"/>
          </ac:spMkLst>
        </pc:spChg>
        <pc:spChg chg="add del mod">
          <ac:chgData name="Raphael Wu" userId="222e91bd63df5811" providerId="LiveId" clId="{534A9F1F-5294-42C7-A279-6BCD5E88610A}" dt="2026-04-28T16:28:33.709" v="100" actId="26606"/>
          <ac:spMkLst>
            <pc:docMk/>
            <pc:sldMk cId="1932736482" sldId="1786"/>
            <ac:spMk id="4105" creationId="{F30B511C-3254-4D78-72B3-CA260AF87E62}"/>
          </ac:spMkLst>
        </pc:spChg>
        <pc:picChg chg="add del mod">
          <ac:chgData name="Raphael Wu" userId="222e91bd63df5811" providerId="LiveId" clId="{534A9F1F-5294-42C7-A279-6BCD5E88610A}" dt="2026-04-28T16:53:09.303" v="320" actId="478"/>
          <ac:picMkLst>
            <pc:docMk/>
            <pc:sldMk cId="1932736482" sldId="1786"/>
            <ac:picMk id="4" creationId="{96C6F8BA-C4E1-5051-DA02-6CB3F3E0829E}"/>
          </ac:picMkLst>
        </pc:picChg>
        <pc:picChg chg="del mod">
          <ac:chgData name="Raphael Wu" userId="222e91bd63df5811" providerId="LiveId" clId="{534A9F1F-5294-42C7-A279-6BCD5E88610A}" dt="2026-04-28T16:28:58.792" v="130" actId="478"/>
          <ac:picMkLst>
            <pc:docMk/>
            <pc:sldMk cId="1932736482" sldId="1786"/>
            <ac:picMk id="4100" creationId="{00000000-0000-0000-0000-000000000000}"/>
          </ac:picMkLst>
        </pc:picChg>
      </pc:sldChg>
      <pc:sldChg chg="add del">
        <pc:chgData name="Raphael Wu" userId="222e91bd63df5811" providerId="LiveId" clId="{534A9F1F-5294-42C7-A279-6BCD5E88610A}" dt="2026-04-28T16:26:06.246" v="75" actId="47"/>
        <pc:sldMkLst>
          <pc:docMk/>
          <pc:sldMk cId="1145227835" sldId="1787"/>
        </pc:sldMkLst>
      </pc:sldChg>
      <pc:sldChg chg="modSp mod">
        <pc:chgData name="Raphael Wu" userId="222e91bd63df5811" providerId="LiveId" clId="{534A9F1F-5294-42C7-A279-6BCD5E88610A}" dt="2026-04-28T16:50:03.077" v="317" actId="20577"/>
        <pc:sldMkLst>
          <pc:docMk/>
          <pc:sldMk cId="888775061" sldId="1788"/>
        </pc:sldMkLst>
        <pc:spChg chg="mod">
          <ac:chgData name="Raphael Wu" userId="222e91bd63df5811" providerId="LiveId" clId="{534A9F1F-5294-42C7-A279-6BCD5E88610A}" dt="2026-04-28T16:50:03.077" v="317" actId="20577"/>
          <ac:spMkLst>
            <pc:docMk/>
            <pc:sldMk cId="888775061" sldId="1788"/>
            <ac:spMk id="7" creationId="{00000000-0000-0000-0000-000000000000}"/>
          </ac:spMkLst>
        </pc:spChg>
      </pc:sldChg>
      <pc:sldChg chg="addSp delSp modSp new add del mod">
        <pc:chgData name="Raphael Wu" userId="222e91bd63df5811" providerId="LiveId" clId="{534A9F1F-5294-42C7-A279-6BCD5E88610A}" dt="2026-04-28T16:50:06.592" v="318"/>
        <pc:sldMkLst>
          <pc:docMk/>
          <pc:sldMk cId="3143720186" sldId="1790"/>
        </pc:sldMkLst>
        <pc:spChg chg="add del">
          <ac:chgData name="Raphael Wu" userId="222e91bd63df5811" providerId="LiveId" clId="{534A9F1F-5294-42C7-A279-6BCD5E88610A}" dt="2026-04-28T16:26:06.806" v="78" actId="478"/>
          <ac:spMkLst>
            <pc:docMk/>
            <pc:sldMk cId="3143720186" sldId="1790"/>
            <ac:spMk id="2" creationId="{56FD1E11-8872-D8BA-2D6C-C5512FDAF4B5}"/>
          </ac:spMkLst>
        </pc:spChg>
        <pc:spChg chg="add del">
          <ac:chgData name="Raphael Wu" userId="222e91bd63df5811" providerId="LiveId" clId="{534A9F1F-5294-42C7-A279-6BCD5E88610A}" dt="2026-04-28T16:26:06.785" v="77" actId="478"/>
          <ac:spMkLst>
            <pc:docMk/>
            <pc:sldMk cId="3143720186" sldId="1790"/>
            <ac:spMk id="3" creationId="{C6D84A7A-821B-36E2-07E9-A9631CCC3E0E}"/>
          </ac:spMkLst>
        </pc:spChg>
        <pc:spChg chg="add mod">
          <ac:chgData name="Raphael Wu" userId="222e91bd63df5811" providerId="LiveId" clId="{534A9F1F-5294-42C7-A279-6BCD5E88610A}" dt="2026-04-28T16:50:06.592" v="318"/>
          <ac:spMkLst>
            <pc:docMk/>
            <pc:sldMk cId="3143720186" sldId="1790"/>
            <ac:spMk id="4" creationId="{2D4D2B73-B008-B5AD-CC0D-F1827BE7F03A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276255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t" anchorCtr="0" compatLnSpc="1">
            <a:prstTxWarp prst="textNoShape">
              <a:avLst/>
            </a:prstTxWarp>
          </a:bodyPr>
          <a:lstStyle>
            <a:lvl1pPr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550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7733" y="1"/>
            <a:ext cx="4276254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t" anchorCtr="0" compatLnSpc="1">
            <a:prstTxWarp prst="textNoShape">
              <a:avLst/>
            </a:prstTxWarp>
          </a:bodyPr>
          <a:lstStyle>
            <a:lvl1pPr algn="r"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550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13580091"/>
            <a:ext cx="4276255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b" anchorCtr="0" compatLnSpc="1">
            <a:prstTxWarp prst="textNoShape">
              <a:avLst/>
            </a:prstTxWarp>
          </a:bodyPr>
          <a:lstStyle>
            <a:lvl1pPr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550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7733" y="13580091"/>
            <a:ext cx="4276254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b" anchorCtr="0" compatLnSpc="1">
            <a:prstTxWarp prst="textNoShape">
              <a:avLst/>
            </a:prstTxWarp>
          </a:bodyPr>
          <a:lstStyle>
            <a:lvl1pPr algn="r"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fld id="{A61D345C-E68B-4329-AC0F-C4C3B9CF378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002216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276255" cy="71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t" anchorCtr="0" compatLnSpc="1">
            <a:prstTxWarp prst="textNoShape">
              <a:avLst/>
            </a:prstTxWarp>
          </a:bodyPr>
          <a:lstStyle>
            <a:lvl1pPr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7733" y="1"/>
            <a:ext cx="4276254" cy="71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t" anchorCtr="0" compatLnSpc="1">
            <a:prstTxWarp prst="textNoShape">
              <a:avLst/>
            </a:prstTxWarp>
          </a:bodyPr>
          <a:lstStyle>
            <a:lvl1pPr algn="r"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62075" y="1074738"/>
            <a:ext cx="7145338" cy="5359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5934" y="6790045"/>
            <a:ext cx="7894446" cy="643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13577791"/>
            <a:ext cx="4276255" cy="715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b" anchorCtr="0" compatLnSpc="1">
            <a:prstTxWarp prst="textNoShape">
              <a:avLst/>
            </a:prstTxWarp>
          </a:bodyPr>
          <a:lstStyle>
            <a:lvl1pPr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7733" y="13577791"/>
            <a:ext cx="4276254" cy="715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b" anchorCtr="0" compatLnSpc="1">
            <a:prstTxWarp prst="textNoShape">
              <a:avLst/>
            </a:prstTxWarp>
          </a:bodyPr>
          <a:lstStyle>
            <a:lvl1pPr algn="r"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fld id="{D7998E3E-5623-489C-8648-2C38346DFE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09662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998E3E-5623-489C-8648-2C38346DFE17}" type="slidenum">
              <a:rPr lang="zh-TW" altLang="en-US" smtClean="0"/>
              <a:pPr>
                <a:defRPr/>
              </a:pPr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1132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2400" b="0">
                <a:ea typeface="標楷體" pitchFamily="65" charset="-12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</p:grpSp>
      </p:grpSp>
      <p:sp>
        <p:nvSpPr>
          <p:cNvPr id="18" name="Rectangle 21"/>
          <p:cNvSpPr>
            <a:spLocks noChangeArrowheads="1"/>
          </p:cNvSpPr>
          <p:nvPr/>
        </p:nvSpPr>
        <p:spPr bwMode="auto">
          <a:xfrm>
            <a:off x="3657600" y="3138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TW" altLang="en-US"/>
          </a:p>
        </p:txBody>
      </p:sp>
      <p:graphicFrame>
        <p:nvGraphicFramePr>
          <p:cNvPr id="19" name="Object 24"/>
          <p:cNvGraphicFramePr>
            <a:graphicFrameLocks noChangeAspect="1"/>
          </p:cNvGraphicFramePr>
          <p:nvPr/>
        </p:nvGraphicFramePr>
        <p:xfrm>
          <a:off x="152400" y="304800"/>
          <a:ext cx="2895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5" name="Photo Editor 影像 " r:id="rId3" imgW="11050542" imgH="2095793" progId="MSPhotoEd.3">
                  <p:embed/>
                </p:oleObj>
              </mc:Choice>
              <mc:Fallback>
                <p:oleObj name="Photo Editor 影像 " r:id="rId3" imgW="11050542" imgH="2095793" progId="MSPhotoEd.3">
                  <p:embed/>
                  <p:pic>
                    <p:nvPicPr>
                      <p:cNvPr id="19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04800"/>
                        <a:ext cx="2895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013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  <a:ea typeface="新細明體" charset="-120"/>
              </a:defRPr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73013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>
                <a:ea typeface="新細明體" charset="-120"/>
              </a:defRPr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20" name="Rectangle 16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 b="0"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1" name="Rectangle 1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" name="Rectangle 18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 b="0">
                <a:ea typeface="+mn-ea"/>
              </a:defRPr>
            </a:lvl1pPr>
          </a:lstStyle>
          <a:p>
            <a:pPr>
              <a:defRPr/>
            </a:pPr>
            <a:fld id="{77A7E8C0-9A0D-4D03-A977-6C665D9EACC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2635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38765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11488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847718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矩形 7"/>
          <p:cNvSpPr/>
          <p:nvPr userDrawn="1"/>
        </p:nvSpPr>
        <p:spPr bwMode="auto">
          <a:xfrm>
            <a:off x="304800" y="5969726"/>
            <a:ext cx="8686800" cy="838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175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838339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752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53994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221037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36898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334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3340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704078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1905000"/>
            <a:ext cx="8229600" cy="3886200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174856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103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103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hlink"/>
                </a:solidFill>
                <a:ea typeface="標楷體" pitchFamily="65" charset="-120"/>
              </a:endParaRPr>
            </a:p>
          </p:txBody>
        </p:sp>
        <p:sp>
          <p:nvSpPr>
            <p:cNvPr id="103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hlink"/>
                </a:solidFill>
                <a:ea typeface="標楷體" pitchFamily="65" charset="-120"/>
              </a:endParaRPr>
            </a:p>
          </p:txBody>
        </p:sp>
        <p:sp>
          <p:nvSpPr>
            <p:cNvPr id="103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accent2"/>
                </a:solidFill>
                <a:ea typeface="標楷體" pitchFamily="65" charset="-120"/>
              </a:endParaRPr>
            </a:p>
          </p:txBody>
        </p:sp>
        <p:sp>
          <p:nvSpPr>
            <p:cNvPr id="104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hlink"/>
                </a:solidFill>
                <a:ea typeface="標楷體" pitchFamily="65" charset="-120"/>
              </a:endParaRPr>
            </a:p>
          </p:txBody>
        </p:sp>
        <p:sp>
          <p:nvSpPr>
            <p:cNvPr id="104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104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accent2"/>
                </a:solidFill>
                <a:ea typeface="標楷體" pitchFamily="65" charset="-120"/>
              </a:endParaRPr>
            </a:p>
          </p:txBody>
        </p:sp>
        <p:sp>
          <p:nvSpPr>
            <p:cNvPr id="104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accent2"/>
                </a:solidFill>
                <a:ea typeface="標楷體" pitchFamily="65" charset="-120"/>
              </a:endParaRPr>
            </a:p>
          </p:txBody>
        </p:sp>
      </p:grpSp>
      <p:sp>
        <p:nvSpPr>
          <p:cNvPr id="102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050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Enabling Your Success</a:t>
            </a:r>
            <a:endParaRPr lang="zh-TW" altLang="en-US"/>
          </a:p>
        </p:txBody>
      </p:sp>
      <p:sp>
        <p:nvSpPr>
          <p:cNvPr id="1030" name="Rectangle 17"/>
          <p:cNvSpPr>
            <a:spLocks noChangeArrowheads="1"/>
          </p:cNvSpPr>
          <p:nvPr/>
        </p:nvSpPr>
        <p:spPr bwMode="auto">
          <a:xfrm>
            <a:off x="3657600" y="3138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TW" altLang="en-US"/>
          </a:p>
        </p:txBody>
      </p:sp>
      <p:sp>
        <p:nvSpPr>
          <p:cNvPr id="1032" name="Text Box 24"/>
          <p:cNvSpPr txBox="1">
            <a:spLocks noChangeArrowheads="1"/>
          </p:cNvSpPr>
          <p:nvPr/>
        </p:nvSpPr>
        <p:spPr bwMode="auto">
          <a:xfrm>
            <a:off x="6096000" y="152400"/>
            <a:ext cx="2819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1400">
                <a:solidFill>
                  <a:schemeClr val="accent2"/>
                </a:solidFill>
                <a:ea typeface="標楷體" pitchFamily="65" charset="-120"/>
              </a:rPr>
              <a:t>CALIN TECHNOLOGY CO.LTD.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kumimoji="1" sz="2800">
          <a:solidFill>
            <a:schemeClr val="tx1"/>
          </a:solidFill>
          <a:latin typeface="+mn-lt"/>
          <a:ea typeface="新細明體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新細明體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kumimoji="1" sz="2000">
          <a:solidFill>
            <a:schemeClr val="tx1"/>
          </a:solidFill>
          <a:latin typeface="+mn-lt"/>
          <a:ea typeface="新細明體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2"/>
          <p:cNvSpPr>
            <a:spLocks noChangeArrowheads="1"/>
          </p:cNvSpPr>
          <p:nvPr/>
        </p:nvSpPr>
        <p:spPr bwMode="auto">
          <a:xfrm>
            <a:off x="114300" y="1499347"/>
            <a:ext cx="8915400" cy="14478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lnSpc>
                <a:spcPct val="150000"/>
              </a:lnSpc>
            </a:pPr>
            <a:r>
              <a:rPr lang="zh-TW" altLang="en-US" sz="4400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設備部</a:t>
            </a:r>
            <a:endParaRPr lang="en-US" altLang="zh-TW" sz="4400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indent="-342900" algn="ctr">
              <a:lnSpc>
                <a:spcPct val="150000"/>
              </a:lnSpc>
            </a:pPr>
            <a:r>
              <a:rPr lang="zh-TW" altLang="en-US" sz="4400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治工具設計課報告</a:t>
            </a:r>
            <a:endParaRPr lang="en-US" altLang="zh-TW" sz="4400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indent="-342900" algn="ctr">
              <a:lnSpc>
                <a:spcPct val="150000"/>
              </a:lnSpc>
            </a:pPr>
            <a:endParaRPr lang="en-US" altLang="zh-TW" sz="4400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075" name="Text Box 4"/>
          <p:cNvSpPr>
            <a:spLocks noChangeArrowheads="1"/>
          </p:cNvSpPr>
          <p:nvPr/>
        </p:nvSpPr>
        <p:spPr bwMode="auto">
          <a:xfrm>
            <a:off x="3048000" y="4419600"/>
            <a:ext cx="34290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lnSpc>
                <a:spcPct val="150000"/>
              </a:lnSpc>
              <a:buSzPct val="75000"/>
            </a:pPr>
            <a:r>
              <a:rPr lang="zh-TW" altLang="en-US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報告人：吳仁中</a:t>
            </a:r>
            <a:endParaRPr lang="en-US" altLang="zh-TW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algn="ctr">
              <a:lnSpc>
                <a:spcPct val="150000"/>
              </a:lnSpc>
              <a:buSzPct val="75000"/>
            </a:pPr>
            <a:r>
              <a:rPr lang="zh-TW" altLang="en-US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日期：</a:t>
            </a:r>
            <a:r>
              <a:rPr lang="en-US" altLang="zh-TW" b="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2026/08/11</a:t>
            </a:r>
            <a:endParaRPr lang="en-US" altLang="zh-TW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18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40399" y="516626"/>
            <a:ext cx="188925" cy="188925"/>
          </a:xfrm>
          <a:prstGeom prst="rect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83399" y="516626"/>
            <a:ext cx="188925" cy="1889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161861" y="457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評估中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7304861" y="457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執行中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8153400" y="516625"/>
            <a:ext cx="188925" cy="18892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8419286" y="46778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暫停</a:t>
            </a: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921981"/>
              </p:ext>
            </p:extLst>
          </p:nvPr>
        </p:nvGraphicFramePr>
        <p:xfrm>
          <a:off x="123830" y="822932"/>
          <a:ext cx="8943973" cy="59588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9574"/>
                <a:gridCol w="990596"/>
                <a:gridCol w="533400"/>
                <a:gridCol w="990600"/>
                <a:gridCol w="990600"/>
                <a:gridCol w="1600200"/>
                <a:gridCol w="1524004"/>
                <a:gridCol w="990600"/>
                <a:gridCol w="914399"/>
              </a:tblGrid>
              <a:tr h="57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No.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專案名稱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需求單位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開始</a:t>
                      </a:r>
                      <a:endParaRPr lang="en-US" altLang="zh-TW" sz="1200" b="1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時間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預計完成時間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本週工作項目</a:t>
                      </a:r>
                      <a:endParaRPr lang="zh-TW" altLang="en-US" sz="12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下週工作項目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效益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負責人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</a:tr>
              <a:tr h="18461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366</a:t>
                      </a: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Holder</a:t>
                      </a: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旋入</a:t>
                      </a: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+</a:t>
                      </a: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扭力確認</a:t>
                      </a:r>
                      <a:endParaRPr lang="en-US" altLang="zh-TW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組裝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200" b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  <a:sym typeface="Wingdings" pitchFamily="2" charset="2"/>
                        </a:rPr>
                        <a:t>2025/04/01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sngStrike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  <a:sym typeface="Wingdings" pitchFamily="2" charset="2"/>
                        </a:rPr>
                        <a:t>2026/3/31</a:t>
                      </a:r>
                      <a:endParaRPr lang="en-US" altLang="zh-TW" sz="1200" b="0" strike="noStrike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noStrike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  <a:sym typeface="Wingdings" pitchFamily="2" charset="2"/>
                        </a:rPr>
                        <a:t>2026/7/30</a:t>
                      </a:r>
                      <a:endParaRPr lang="en-US" altLang="zh-TW" sz="1200" b="0" strike="sngStrike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品質穩定</a:t>
                      </a:r>
                      <a:endParaRPr lang="en-US" altLang="zh-TW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節省人力</a:t>
                      </a:r>
                      <a:endParaRPr lang="en-US" altLang="zh-TW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技術提升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蔡孟堅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苗天恒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吳仁中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李起修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915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200" dirty="0" smtClean="0"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Wingdings" pitchFamily="2" charset="2"/>
                        </a:rPr>
                        <a:t>切割拆解機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組裝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200" b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  <a:sym typeface="Wingdings" pitchFamily="2" charset="2"/>
                        </a:rPr>
                        <a:t>2025/12/01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  <a:sym typeface="Wingdings" pitchFamily="2" charset="2"/>
                        </a:rPr>
                        <a:t>2026/6/30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電動缸及各</a:t>
                      </a: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IO</a:t>
                      </a: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控制測試。</a:t>
                      </a:r>
                      <a:endParaRPr lang="en-US" altLang="zh-TW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提升重工效率</a:t>
                      </a:r>
                      <a:endParaRPr lang="en-US" altLang="zh-TW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技術提升</a:t>
                      </a: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endParaRPr lang="zh-TW" altLang="en-US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蔡孟堅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苗天恒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吳仁中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李起修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461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  <a:hlinkClick r:id="rId2" action="ppaction://hlinksldjump"/>
                        </a:rPr>
                        <a:t>FAU</a:t>
                      </a: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  <a:hlinkClick r:id="rId2" action="ppaction://hlinksldjump"/>
                        </a:rPr>
                        <a:t>驗證程式</a:t>
                      </a:r>
                      <a:endParaRPr lang="en-US" altLang="zh-TW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200" b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  <a:sym typeface="Wingdings" pitchFamily="2" charset="2"/>
                        </a:rPr>
                        <a:t>2026/07/24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noStrike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  <a:sym typeface="Wingdings" pitchFamily="2" charset="2"/>
                        </a:rPr>
                        <a:t>2026/08/14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修改</a:t>
                      </a:r>
                      <a:r>
                        <a:rPr lang="en-US" altLang="zh-TW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UI</a:t>
                      </a: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為兩個資料擷取。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資料擷取範圍設定增加</a:t>
                      </a:r>
                      <a:r>
                        <a:rPr lang="en-US" altLang="zh-TW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X</a:t>
                      </a: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軸方向。</a:t>
                      </a:r>
                      <a:endParaRPr lang="en-US" altLang="zh-TW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資料擷取範圍設定視覺化。</a:t>
                      </a:r>
                      <a:endParaRPr lang="en-US" altLang="zh-TW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資料點繪圖。</a:t>
                      </a:r>
                      <a:endParaRPr lang="en-US" altLang="zh-TW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求圓心。</a:t>
                      </a:r>
                      <a:endParaRPr lang="en-US" altLang="zh-TW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計算模具傾斜。</a:t>
                      </a:r>
                      <a:endParaRPr lang="en-US" altLang="zh-TW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匯出</a:t>
                      </a:r>
                      <a:r>
                        <a:rPr lang="en-US" altLang="zh-TW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CAD</a:t>
                      </a: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檔及</a:t>
                      </a:r>
                      <a:r>
                        <a:rPr lang="en-US" altLang="zh-TW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EXCEL</a:t>
                      </a: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檔。</a:t>
                      </a:r>
                      <a:endParaRPr lang="en-US" altLang="zh-TW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>
                        <a:buFont typeface="Arial" pitchFamily="34" charset="0"/>
                        <a:buChar char="•"/>
                      </a:pP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節省重覆計算時間</a:t>
                      </a:r>
                      <a:endParaRPr lang="en-US" altLang="zh-TW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indent="-171450" algn="just">
                        <a:buFont typeface="Arial" pitchFamily="34" charset="0"/>
                        <a:buChar char="•"/>
                      </a:pP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避免人工計算錯誤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副理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吳仁中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2768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40399" y="516626"/>
            <a:ext cx="188925" cy="188925"/>
          </a:xfrm>
          <a:prstGeom prst="rect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83399" y="516626"/>
            <a:ext cx="188925" cy="1889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161861" y="457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評估中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7304861" y="457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執行中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8153400" y="516625"/>
            <a:ext cx="188925" cy="18892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8419286" y="46778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暫停</a:t>
            </a: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524910"/>
              </p:ext>
            </p:extLst>
          </p:nvPr>
        </p:nvGraphicFramePr>
        <p:xfrm>
          <a:off x="123830" y="822932"/>
          <a:ext cx="8943973" cy="59588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9574"/>
                <a:gridCol w="990596"/>
                <a:gridCol w="533400"/>
                <a:gridCol w="990600"/>
                <a:gridCol w="990600"/>
                <a:gridCol w="1600200"/>
                <a:gridCol w="1524004"/>
                <a:gridCol w="990600"/>
                <a:gridCol w="914399"/>
              </a:tblGrid>
              <a:tr h="57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No.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專案名稱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需求單位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開始</a:t>
                      </a:r>
                      <a:endParaRPr lang="en-US" altLang="zh-TW" sz="1200" b="1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時間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預計完成時間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本週工作項目</a:t>
                      </a:r>
                      <a:endParaRPr lang="zh-TW" altLang="en-US" sz="12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下週工作項目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效益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負責人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</a:tr>
              <a:tr h="18461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366</a:t>
                      </a: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Holder</a:t>
                      </a: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旋入</a:t>
                      </a: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+</a:t>
                      </a: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扭力確認</a:t>
                      </a:r>
                      <a:endParaRPr lang="en-US" altLang="zh-TW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組裝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200" b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  <a:sym typeface="Wingdings" pitchFamily="2" charset="2"/>
                        </a:rPr>
                        <a:t>2025/04/01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sngStrike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  <a:sym typeface="Wingdings" pitchFamily="2" charset="2"/>
                        </a:rPr>
                        <a:t>2026/3/31</a:t>
                      </a:r>
                      <a:endParaRPr lang="en-US" altLang="zh-TW" sz="1200" b="0" strike="noStrike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noStrike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  <a:sym typeface="Wingdings" pitchFamily="2" charset="2"/>
                        </a:rPr>
                        <a:t>2026/7/30</a:t>
                      </a:r>
                      <a:endParaRPr lang="en-US" altLang="zh-TW" sz="1200" b="0" strike="sngStrike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品質穩定</a:t>
                      </a:r>
                      <a:endParaRPr lang="en-US" altLang="zh-TW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節省人力</a:t>
                      </a:r>
                      <a:endParaRPr lang="en-US" altLang="zh-TW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技術提升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蔡孟堅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苗天恒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吳仁中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李起修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915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5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zh-TW" altLang="en-US" sz="1200" dirty="0" smtClean="0">
                        <a:latin typeface="Times New Roman" pitchFamily="18" charset="0"/>
                        <a:ea typeface="+mn-ea"/>
                        <a:cs typeface="Times New Roman" pitchFamily="18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zh-TW" sz="1200" b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endParaRPr lang="zh-TW" altLang="en-US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461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6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zh-TW" sz="1200" b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strike="noStrike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>
                        <a:buFont typeface="Arial" pitchFamily="34" charset="0"/>
                        <a:buChar char="•"/>
                      </a:pPr>
                      <a:endParaRPr lang="zh-TW" altLang="en-US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0791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ChangeArrowheads="1"/>
          </p:cNvSpPr>
          <p:nvPr/>
        </p:nvSpPr>
        <p:spPr bwMode="auto">
          <a:xfrm>
            <a:off x="1292229" y="2279650"/>
            <a:ext cx="6480175" cy="252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charset="0"/>
                <a:ea typeface="標楷體" pitchFamily="65" charset="-120"/>
                <a:cs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TW" altLang="en-US" sz="4400" b="0" dirty="0">
                <a:latin typeface="+mn-ea"/>
                <a:ea typeface="+mn-ea"/>
              </a:rPr>
              <a:t>報告完畢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TW" altLang="en-US" sz="4400" b="0" dirty="0">
                <a:latin typeface="+mn-ea"/>
                <a:ea typeface="+mn-ea"/>
              </a:rPr>
              <a:t>感謝指教</a:t>
            </a:r>
          </a:p>
        </p:txBody>
      </p:sp>
    </p:spTree>
    <p:extLst>
      <p:ext uri="{BB962C8B-B14F-4D97-AF65-F5344CB8AC3E}">
        <p14:creationId xmlns:p14="http://schemas.microsoft.com/office/powerpoint/2010/main" val="2656984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="" xmlns:a16="http://schemas.microsoft.com/office/drawing/2014/main" id="{2D4D2B73-B008-B5AD-CC0D-F1827BE7F03A}"/>
              </a:ext>
            </a:extLst>
          </p:cNvPr>
          <p:cNvSpPr txBox="1"/>
          <p:nvPr/>
        </p:nvSpPr>
        <p:spPr>
          <a:xfrm>
            <a:off x="403354" y="380999"/>
            <a:ext cx="18004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計算方法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="" xmlns:a16="http://schemas.microsoft.com/office/drawing/2014/main" id="{6263174D-9A64-366A-6A59-F4F84DDA189A}"/>
              </a:ext>
            </a:extLst>
          </p:cNvPr>
          <p:cNvSpPr txBox="1">
            <a:spLocks/>
          </p:cNvSpPr>
          <p:nvPr/>
        </p:nvSpPr>
        <p:spPr>
          <a:xfrm>
            <a:off x="403354" y="1066800"/>
            <a:ext cx="8359646" cy="1447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 marL="457200" lvl="1" indent="-457200">
              <a:lnSpc>
                <a:spcPts val="3000"/>
              </a:lnSpc>
              <a:buClrTx/>
              <a:buFont typeface="+mj-lt"/>
              <a:buAutoNum type="arabicPeriod"/>
            </a:pPr>
            <a:r>
              <a:rPr lang="zh-TW" altLang="en-US" sz="2000" b="0" kern="0" dirty="0" smtClean="0">
                <a:latin typeface="+mn-ea"/>
                <a:ea typeface="+mn-ea"/>
              </a:rPr>
              <a:t>如果量測出來的面形不漂亮</a:t>
            </a:r>
            <a:r>
              <a:rPr lang="en-US" altLang="zh-TW" sz="2000" b="0" kern="0" dirty="0" smtClean="0">
                <a:latin typeface="+mn-ea"/>
                <a:ea typeface="+mn-ea"/>
              </a:rPr>
              <a:t>(</a:t>
            </a:r>
            <a:r>
              <a:rPr lang="zh-TW" altLang="en-US" sz="2000" b="0" kern="0" dirty="0" smtClean="0">
                <a:latin typeface="+mn-ea"/>
                <a:ea typeface="+mn-ea"/>
              </a:rPr>
              <a:t>平整度、連續性</a:t>
            </a:r>
            <a:r>
              <a:rPr lang="en-US" altLang="zh-TW" sz="2000" b="0" kern="0" dirty="0" smtClean="0">
                <a:latin typeface="+mn-ea"/>
                <a:ea typeface="+mn-ea"/>
              </a:rPr>
              <a:t>…)</a:t>
            </a:r>
            <a:r>
              <a:rPr lang="zh-TW" altLang="en-US" sz="2000" b="0" kern="0" dirty="0" smtClean="0">
                <a:latin typeface="+mn-ea"/>
                <a:ea typeface="+mn-ea"/>
              </a:rPr>
              <a:t>，容易受到干擾。</a:t>
            </a:r>
            <a:endParaRPr lang="en-US" altLang="zh-TW" sz="2000" b="0" kern="0" dirty="0" smtClean="0">
              <a:latin typeface="+mn-ea"/>
              <a:ea typeface="+mn-ea"/>
            </a:endParaRPr>
          </a:p>
          <a:p>
            <a:pPr marL="457200" lvl="1" indent="-457200">
              <a:lnSpc>
                <a:spcPts val="3000"/>
              </a:lnSpc>
              <a:buClrTx/>
              <a:buFont typeface="+mj-lt"/>
              <a:buAutoNum type="arabicPeriod"/>
            </a:pPr>
            <a:r>
              <a:rPr lang="zh-TW" altLang="en-US" sz="2000" b="0" kern="0" dirty="0" smtClean="0">
                <a:latin typeface="+mn-ea"/>
                <a:ea typeface="+mn-ea"/>
              </a:rPr>
              <a:t>無法辨識損壞的模具、量測值跑掉的問題。</a:t>
            </a:r>
            <a:endParaRPr lang="en-US" altLang="zh-TW" sz="2000" b="0" kern="0" dirty="0" smtClean="0">
              <a:latin typeface="+mn-ea"/>
              <a:ea typeface="+mn-ea"/>
            </a:endParaRPr>
          </a:p>
        </p:txBody>
      </p:sp>
      <p:pic>
        <p:nvPicPr>
          <p:cNvPr id="4102" name="Picture 6" descr="D:\專案\FAU\截圖\(舊)\異常_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7731" y="2840510"/>
            <a:ext cx="4287669" cy="256968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/>
        </p:spPr>
      </p:pic>
      <p:pic>
        <p:nvPicPr>
          <p:cNvPr id="4103" name="Picture 7" descr="D:\專案\FAU\截圖\(舊)\異常_0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5715000"/>
            <a:ext cx="7296150" cy="10001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/>
        </p:spPr>
      </p:pic>
      <p:pic>
        <p:nvPicPr>
          <p:cNvPr id="4104" name="Picture 8" descr="D:\專案\FAU\截圖\(舊)\異常_0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849228"/>
            <a:ext cx="4101308" cy="254965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/>
        </p:spPr>
      </p:pic>
    </p:spTree>
    <p:extLst>
      <p:ext uri="{BB962C8B-B14F-4D97-AF65-F5344CB8AC3E}">
        <p14:creationId xmlns:p14="http://schemas.microsoft.com/office/powerpoint/2010/main" val="129938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="" xmlns:a16="http://schemas.microsoft.com/office/drawing/2014/main" id="{2D4D2B73-B008-B5AD-CC0D-F1827BE7F03A}"/>
              </a:ext>
            </a:extLst>
          </p:cNvPr>
          <p:cNvSpPr txBox="1"/>
          <p:nvPr/>
        </p:nvSpPr>
        <p:spPr>
          <a:xfrm>
            <a:off x="403354" y="380999"/>
            <a:ext cx="39497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新的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FAU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操作介面演算法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="" xmlns:a16="http://schemas.microsoft.com/office/drawing/2014/main" id="{6263174D-9A64-366A-6A59-F4F84DDA189A}"/>
              </a:ext>
            </a:extLst>
          </p:cNvPr>
          <p:cNvSpPr txBox="1">
            <a:spLocks/>
          </p:cNvSpPr>
          <p:nvPr/>
        </p:nvSpPr>
        <p:spPr>
          <a:xfrm>
            <a:off x="403354" y="990601"/>
            <a:ext cx="8435846" cy="182879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 marL="342900" lvl="1" indent="-342900">
              <a:lnSpc>
                <a:spcPct val="150000"/>
              </a:lnSpc>
              <a:buClrTx/>
              <a:buFont typeface="Wingdings" panose="05000000000000000000" pitchFamily="2" charset="2"/>
              <a:buChar char="u"/>
            </a:pPr>
            <a:r>
              <a:rPr lang="zh-TW" altLang="en-US" sz="2000" b="0" kern="0" dirty="0" smtClean="0">
                <a:latin typeface="+mn-ea"/>
                <a:ea typeface="+mn-ea"/>
              </a:rPr>
              <a:t>左側可同時載入兩份量測數據，用於比較及計算</a:t>
            </a:r>
            <a:r>
              <a:rPr lang="en-US" altLang="zh-TW" sz="2000" b="0" kern="0" dirty="0" smtClean="0">
                <a:latin typeface="+mn-ea"/>
                <a:ea typeface="+mn-ea"/>
              </a:rPr>
              <a:t>CAD</a:t>
            </a:r>
            <a:r>
              <a:rPr lang="zh-TW" altLang="en-US" sz="2000" b="0" kern="0" dirty="0" smtClean="0">
                <a:latin typeface="+mn-ea"/>
                <a:ea typeface="+mn-ea"/>
              </a:rPr>
              <a:t>差。</a:t>
            </a:r>
            <a:endParaRPr lang="en-US" altLang="zh-TW" sz="2000" b="0" kern="0" dirty="0" smtClean="0">
              <a:latin typeface="+mn-ea"/>
              <a:ea typeface="+mn-ea"/>
            </a:endParaRPr>
          </a:p>
          <a:p>
            <a:pPr marL="342900" lvl="1" indent="-342900">
              <a:lnSpc>
                <a:spcPct val="150000"/>
              </a:lnSpc>
              <a:buClrTx/>
              <a:buFont typeface="Wingdings" panose="05000000000000000000" pitchFamily="2" charset="2"/>
              <a:buChar char="u"/>
            </a:pPr>
            <a:r>
              <a:rPr lang="zh-TW" altLang="en-US" sz="2000" b="0" kern="0" dirty="0" smtClean="0">
                <a:latin typeface="+mn-ea"/>
                <a:ea typeface="+mn-ea"/>
              </a:rPr>
              <a:t>中間為頁面切換、光纖演算法參數設定。</a:t>
            </a:r>
            <a:endParaRPr lang="en-US" altLang="zh-TW" sz="2000" b="0" kern="0" dirty="0" smtClean="0">
              <a:latin typeface="+mn-ea"/>
              <a:ea typeface="+mn-ea"/>
            </a:endParaRPr>
          </a:p>
          <a:p>
            <a:pPr marL="342900" lvl="1" indent="-342900">
              <a:lnSpc>
                <a:spcPct val="150000"/>
              </a:lnSpc>
              <a:buClrTx/>
              <a:buFont typeface="Wingdings" panose="05000000000000000000" pitchFamily="2" charset="2"/>
              <a:buChar char="u"/>
            </a:pPr>
            <a:r>
              <a:rPr lang="zh-TW" altLang="en-US" sz="2000" b="0" kern="0" dirty="0" smtClean="0">
                <a:latin typeface="+mn-ea"/>
                <a:ea typeface="+mn-ea"/>
              </a:rPr>
              <a:t>右側則為滙出功能。</a:t>
            </a:r>
            <a:endParaRPr lang="en-US" altLang="zh-TW" sz="2000" b="0" kern="0" dirty="0" smtClean="0">
              <a:latin typeface="+mn-ea"/>
              <a:ea typeface="+mn-ea"/>
            </a:endParaRPr>
          </a:p>
        </p:txBody>
      </p:sp>
      <p:pic>
        <p:nvPicPr>
          <p:cNvPr id="3078" name="Picture 6" descr="D:\專案\FAU\截圖\主畫面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117" y="4114800"/>
            <a:ext cx="7894320" cy="2573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1" name="Picture 9" descr="D:\專案\FAU\截圖\主畫面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117" y="2888932"/>
            <a:ext cx="7894320" cy="1073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8576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="" xmlns:a16="http://schemas.microsoft.com/office/drawing/2014/main" id="{2D4D2B73-B008-B5AD-CC0D-F1827BE7F03A}"/>
              </a:ext>
            </a:extLst>
          </p:cNvPr>
          <p:cNvSpPr txBox="1"/>
          <p:nvPr/>
        </p:nvSpPr>
        <p:spPr>
          <a:xfrm>
            <a:off x="403354" y="380999"/>
            <a:ext cx="2723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取樣範圍視覺化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="" xmlns:a16="http://schemas.microsoft.com/office/drawing/2014/main" id="{6263174D-9A64-366A-6A59-F4F84DDA189A}"/>
              </a:ext>
            </a:extLst>
          </p:cNvPr>
          <p:cNvSpPr txBox="1">
            <a:spLocks/>
          </p:cNvSpPr>
          <p:nvPr/>
        </p:nvSpPr>
        <p:spPr>
          <a:xfrm>
            <a:off x="457200" y="914400"/>
            <a:ext cx="8229600" cy="92018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 smtClean="0">
                <a:latin typeface="+mn-ea"/>
              </a:rPr>
              <a:t>原本使用輸入框，分別輸入</a:t>
            </a:r>
            <a:r>
              <a:rPr lang="en-US" altLang="zh-TW" sz="2000" b="0" kern="0" dirty="0" smtClean="0">
                <a:latin typeface="+mn-ea"/>
              </a:rPr>
              <a:t>Y</a:t>
            </a:r>
            <a:r>
              <a:rPr lang="zh-TW" altLang="en-US" sz="2000" b="0" kern="0" dirty="0" smtClean="0">
                <a:latin typeface="+mn-ea"/>
              </a:rPr>
              <a:t>軸上下取值範圍。新增</a:t>
            </a:r>
            <a:r>
              <a:rPr lang="en-US" altLang="zh-TW" sz="2000" b="0" kern="0" dirty="0" smtClean="0">
                <a:latin typeface="+mn-ea"/>
              </a:rPr>
              <a:t>X</a:t>
            </a:r>
            <a:r>
              <a:rPr lang="zh-TW" altLang="en-US" sz="2000" b="0" kern="0" dirty="0" smtClean="0">
                <a:latin typeface="+mn-ea"/>
              </a:rPr>
              <a:t>軸範圍後，變更使用線條標示方式表示取樣範圍，操作更直覺。</a:t>
            </a:r>
            <a:endParaRPr lang="en-US" altLang="zh-TW" sz="1600" b="0" kern="0" dirty="0">
              <a:latin typeface="+mn-ea"/>
              <a:ea typeface="+mn-ea"/>
            </a:endParaRPr>
          </a:p>
        </p:txBody>
      </p:sp>
      <p:pic>
        <p:nvPicPr>
          <p:cNvPr id="2" name="Picture 2" descr="D:\專案\FAU\截圖\取樣範圍視覺化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187" y="1882210"/>
            <a:ext cx="7577626" cy="4899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7929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="" xmlns:a16="http://schemas.microsoft.com/office/drawing/2014/main" id="{2D4D2B73-B008-B5AD-CC0D-F1827BE7F03A}"/>
              </a:ext>
            </a:extLst>
          </p:cNvPr>
          <p:cNvSpPr txBox="1"/>
          <p:nvPr/>
        </p:nvSpPr>
        <p:spPr>
          <a:xfrm>
            <a:off x="403354" y="380999"/>
            <a:ext cx="30315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計算所有點的斜率</a:t>
            </a:r>
            <a:endParaRPr lang="en-US" altLang="zh-TW" sz="24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="" xmlns:a16="http://schemas.microsoft.com/office/drawing/2014/main" id="{6263174D-9A64-366A-6A59-F4F84DDA189A}"/>
              </a:ext>
            </a:extLst>
          </p:cNvPr>
          <p:cNvSpPr txBox="1">
            <a:spLocks/>
          </p:cNvSpPr>
          <p:nvPr/>
        </p:nvSpPr>
        <p:spPr>
          <a:xfrm>
            <a:off x="457200" y="914400"/>
            <a:ext cx="7924800" cy="91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 smtClean="0">
                <a:latin typeface="+mn-ea"/>
                <a:ea typeface="+mn-ea"/>
              </a:rPr>
              <a:t>針對取樣範圍內所有點，利用中央差分法計算出每個點的斜率。</a:t>
            </a:r>
            <a:endParaRPr lang="en-US" altLang="zh-TW" sz="2000" b="0" kern="0" dirty="0">
              <a:latin typeface="+mn-ea"/>
              <a:ea typeface="+mn-ea"/>
            </a:endParaRPr>
          </a:p>
        </p:txBody>
      </p:sp>
      <p:pic>
        <p:nvPicPr>
          <p:cNvPr id="2" name="Picture 3" descr="D:\專案\FAU\截圖\每一點的斜率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4" y="2286000"/>
            <a:ext cx="8562976" cy="42576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/>
        </p:spPr>
      </p:pic>
    </p:spTree>
    <p:extLst>
      <p:ext uri="{BB962C8B-B14F-4D97-AF65-F5344CB8AC3E}">
        <p14:creationId xmlns:p14="http://schemas.microsoft.com/office/powerpoint/2010/main" val="1638500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="" xmlns:a16="http://schemas.microsoft.com/office/drawing/2014/main" id="{2D4D2B73-B008-B5AD-CC0D-F1827BE7F03A}"/>
              </a:ext>
            </a:extLst>
          </p:cNvPr>
          <p:cNvSpPr txBox="1"/>
          <p:nvPr/>
        </p:nvSpPr>
        <p:spPr>
          <a:xfrm>
            <a:off x="403354" y="380999"/>
            <a:ext cx="2723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後續計算項目：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3" name="動作按鈕: 下一項 22">
            <a:hlinkClick r:id="rId2" action="ppaction://hlinksldjump" highlightClick="1"/>
          </p:cNvPr>
          <p:cNvSpPr/>
          <p:nvPr/>
        </p:nvSpPr>
        <p:spPr bwMode="auto">
          <a:xfrm>
            <a:off x="8744757" y="6489600"/>
            <a:ext cx="323043" cy="292200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="" xmlns:a16="http://schemas.microsoft.com/office/drawing/2014/main" id="{6263174D-9A64-366A-6A59-F4F84DDA189A}"/>
              </a:ext>
            </a:extLst>
          </p:cNvPr>
          <p:cNvSpPr txBox="1">
            <a:spLocks/>
          </p:cNvSpPr>
          <p:nvPr/>
        </p:nvSpPr>
        <p:spPr>
          <a:xfrm>
            <a:off x="609600" y="914400"/>
            <a:ext cx="7848600" cy="5105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 smtClean="0">
                <a:latin typeface="+mn-ea"/>
                <a:ea typeface="+mn-ea"/>
              </a:rPr>
              <a:t>擬合直線，判斷規格：</a:t>
            </a:r>
            <a:endParaRPr lang="en-US" altLang="zh-TW" sz="2000" b="0" kern="0" dirty="0" smtClean="0">
              <a:latin typeface="+mn-ea"/>
              <a:ea typeface="+mn-ea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 smtClean="0">
                <a:latin typeface="+mn-ea"/>
                <a:ea typeface="+mn-ea"/>
              </a:rPr>
              <a:t>直線長度必須長於指定的數據點數。</a:t>
            </a:r>
            <a:endParaRPr lang="en-US" altLang="zh-TW" sz="2000" b="0" kern="0" dirty="0" smtClean="0">
              <a:latin typeface="+mn-ea"/>
              <a:ea typeface="+mn-ea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 smtClean="0">
                <a:latin typeface="+mn-ea"/>
                <a:ea typeface="+mn-ea"/>
              </a:rPr>
              <a:t>兩直線夾角必須為</a:t>
            </a:r>
            <a:r>
              <a:rPr lang="en-US" altLang="zh-TW" sz="2000" b="0" kern="0" dirty="0" smtClean="0">
                <a:latin typeface="+mn-ea"/>
                <a:ea typeface="+mn-ea"/>
              </a:rPr>
              <a:t>90</a:t>
            </a:r>
            <a:r>
              <a:rPr lang="en-US" altLang="zh-TW" sz="2000" b="0" kern="0" dirty="0" smtClean="0">
                <a:latin typeface="+mn-ea"/>
              </a:rPr>
              <a:t>°</a:t>
            </a:r>
            <a:r>
              <a:rPr lang="zh-TW" altLang="en-US" sz="2000" b="0" kern="0" dirty="0" smtClean="0">
                <a:latin typeface="+mn-ea"/>
              </a:rPr>
              <a:t>。</a:t>
            </a:r>
            <a:endParaRPr lang="en-US" altLang="zh-TW" sz="2000" b="0" kern="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 smtClean="0">
                <a:latin typeface="+mn-ea"/>
                <a:ea typeface="+mn-ea"/>
              </a:rPr>
              <a:t>計算並</a:t>
            </a:r>
            <a:r>
              <a:rPr lang="zh-TW" altLang="en-US" sz="2000" b="0" kern="0" dirty="0" smtClean="0">
                <a:latin typeface="+mn-ea"/>
              </a:rPr>
              <a:t>繪製各光纖的圓、圓心及其他數據。</a:t>
            </a:r>
            <a:endParaRPr lang="en-US" altLang="zh-TW" sz="2000" b="0" kern="0" dirty="0" smtClean="0">
              <a:latin typeface="+mn-ea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 smtClean="0">
                <a:latin typeface="+mn-ea"/>
              </a:rPr>
              <a:t>計算量測傾斜並補正。</a:t>
            </a:r>
            <a:endParaRPr lang="en-US" altLang="zh-TW" sz="2000" b="0" kern="0" dirty="0" smtClean="0">
              <a:latin typeface="+mn-ea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 smtClean="0">
                <a:latin typeface="+mn-ea"/>
              </a:rPr>
              <a:t>繪製圓心連線圖。</a:t>
            </a:r>
            <a:endParaRPr lang="en-US" altLang="zh-TW" sz="2000" b="0" kern="0" dirty="0" smtClean="0">
              <a:latin typeface="+mn-ea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 smtClean="0">
                <a:latin typeface="+mn-ea"/>
              </a:rPr>
              <a:t>各光纖</a:t>
            </a:r>
            <a:r>
              <a:rPr lang="en-US" altLang="zh-TW" sz="2000" b="0" kern="0" dirty="0" smtClean="0">
                <a:latin typeface="+mn-ea"/>
              </a:rPr>
              <a:t>Y</a:t>
            </a:r>
            <a:r>
              <a:rPr lang="zh-TW" altLang="en-US" sz="2000" b="0" kern="0" dirty="0" smtClean="0">
                <a:latin typeface="+mn-ea"/>
              </a:rPr>
              <a:t>軸偏移量可自訂。</a:t>
            </a:r>
            <a:endParaRPr lang="en-US" altLang="zh-TW" sz="2000" b="0" kern="0" dirty="0" smtClean="0">
              <a:latin typeface="+mn-ea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 smtClean="0">
                <a:latin typeface="+mn-ea"/>
              </a:rPr>
              <a:t>匯出</a:t>
            </a:r>
            <a:r>
              <a:rPr lang="en-US" altLang="zh-TW" sz="2000" b="0" kern="0" dirty="0" smtClean="0">
                <a:latin typeface="+mn-ea"/>
              </a:rPr>
              <a:t>CAD</a:t>
            </a:r>
            <a:r>
              <a:rPr lang="zh-TW" altLang="en-US" sz="2000" b="0" kern="0" dirty="0" smtClean="0">
                <a:latin typeface="+mn-ea"/>
              </a:rPr>
              <a:t>檔及</a:t>
            </a:r>
            <a:r>
              <a:rPr lang="en-US" altLang="zh-TW" sz="2000" b="0" kern="0" dirty="0" smtClean="0">
                <a:latin typeface="+mn-ea"/>
              </a:rPr>
              <a:t>EXCEL</a:t>
            </a:r>
            <a:r>
              <a:rPr lang="zh-TW" altLang="en-US" sz="2000" b="0" kern="0" dirty="0" smtClean="0">
                <a:latin typeface="+mn-ea"/>
              </a:rPr>
              <a:t>檔。</a:t>
            </a:r>
            <a:endParaRPr lang="en-US" altLang="zh-TW" sz="2000" b="0" kern="0" dirty="0" smtClean="0">
              <a:latin typeface="+mn-ea"/>
              <a:ea typeface="+mn-ea"/>
            </a:endParaRPr>
          </a:p>
        </p:txBody>
      </p:sp>
      <p:pic>
        <p:nvPicPr>
          <p:cNvPr id="8194" name="Picture 2" descr="D:\專案\FAU\截圖\過濾參數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914400"/>
            <a:ext cx="114300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11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="" xmlns:a16="http://schemas.microsoft.com/office/drawing/2014/main" id="{2D4D2B73-B008-B5AD-CC0D-F1827BE7F03A}"/>
              </a:ext>
            </a:extLst>
          </p:cNvPr>
          <p:cNvSpPr txBox="1"/>
          <p:nvPr/>
        </p:nvSpPr>
        <p:spPr>
          <a:xfrm>
            <a:off x="403354" y="380999"/>
            <a:ext cx="3416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※568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四合一插入機改機</a:t>
            </a:r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2" name="Text Placeholder 3">
            <a:extLst>
              <a:ext uri="{FF2B5EF4-FFF2-40B4-BE49-F238E27FC236}">
                <a16:creationId xmlns="" xmlns:a16="http://schemas.microsoft.com/office/drawing/2014/main" id="{6263174D-9A64-366A-6A59-F4F84DDA189A}"/>
              </a:ext>
            </a:extLst>
          </p:cNvPr>
          <p:cNvSpPr txBox="1">
            <a:spLocks/>
          </p:cNvSpPr>
          <p:nvPr/>
        </p:nvSpPr>
        <p:spPr>
          <a:xfrm>
            <a:off x="403354" y="914399"/>
            <a:ext cx="8283446" cy="99060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TW" altLang="en-US" sz="2000" b="0" kern="0" dirty="0" smtClean="0">
                <a:latin typeface="+mn-ea"/>
              </a:rPr>
              <a:t>關閉</a:t>
            </a:r>
            <a:r>
              <a:rPr lang="en-US" altLang="zh-TW" sz="2000" b="0" kern="0" dirty="0" smtClean="0">
                <a:latin typeface="+mn-ea"/>
              </a:rPr>
              <a:t>S1</a:t>
            </a:r>
            <a:r>
              <a:rPr lang="zh-TW" altLang="en-US" sz="2000" b="0" kern="0" dirty="0" smtClean="0">
                <a:latin typeface="+mn-ea"/>
              </a:rPr>
              <a:t>吸嘴動作。</a:t>
            </a:r>
            <a:endParaRPr lang="en-US" altLang="zh-TW" sz="2000" b="0" kern="0" dirty="0">
              <a:latin typeface="+mn-ea"/>
              <a:ea typeface="+mn-ea"/>
            </a:endParaRPr>
          </a:p>
        </p:txBody>
      </p:sp>
      <p:pic>
        <p:nvPicPr>
          <p:cNvPr id="3074" name="Picture 2" descr="D:\專案\維修_改機\20260810\568四合一插入機_Disable S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2039" y="1771650"/>
            <a:ext cx="5426075" cy="439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橢圓 1"/>
          <p:cNvSpPr/>
          <p:nvPr/>
        </p:nvSpPr>
        <p:spPr bwMode="auto">
          <a:xfrm>
            <a:off x="4800600" y="2674144"/>
            <a:ext cx="1066800" cy="2590800"/>
          </a:xfrm>
          <a:prstGeom prst="ellipse">
            <a:avLst/>
          </a:prstGeom>
          <a:noFill/>
          <a:ln w="57150">
            <a:solidFill>
              <a:srgbClr val="FF0000"/>
            </a:solidFill>
            <a:headEnd type="none" w="med" len="med"/>
            <a:tailEnd type="none" w="med" len="med"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137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ixe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ixel">
      <a:majorFont>
        <a:latin typeface="Arial"/>
        <a:ea typeface="標楷體"/>
        <a:cs typeface="Arial"/>
      </a:majorFont>
      <a:minorFont>
        <a:latin typeface="Arial"/>
        <a:ea typeface="標楷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  <a:cs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153023</TotalTime>
  <Words>438</Words>
  <Application>Microsoft Office PowerPoint</Application>
  <PresentationFormat>如螢幕大小 (4:3)</PresentationFormat>
  <Paragraphs>110</Paragraphs>
  <Slides>10</Slides>
  <Notes>1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2" baseType="lpstr">
      <vt:lpstr>Pixel</vt:lpstr>
      <vt:lpstr>Photo Editor 影像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台和全球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mlee</dc:creator>
  <cp:lastModifiedBy>Raphael.wu(吳仁中)</cp:lastModifiedBy>
  <cp:revision>10743</cp:revision>
  <cp:lastPrinted>2019-02-20T00:08:27Z</cp:lastPrinted>
  <dcterms:created xsi:type="dcterms:W3CDTF">2003-08-13T01:23:13Z</dcterms:created>
  <dcterms:modified xsi:type="dcterms:W3CDTF">2026-08-11T03:35:46Z</dcterms:modified>
</cp:coreProperties>
</file>