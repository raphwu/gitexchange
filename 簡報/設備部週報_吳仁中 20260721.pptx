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10"/>
  </p:notesMasterIdLst>
  <p:handoutMasterIdLst>
    <p:handoutMasterId r:id="rId11"/>
  </p:handoutMasterIdLst>
  <p:sldIdLst>
    <p:sldId id="1161" r:id="rId2"/>
    <p:sldId id="1773" r:id="rId3"/>
    <p:sldId id="1771" r:id="rId4"/>
    <p:sldId id="1800" r:id="rId5"/>
    <p:sldId id="1802" r:id="rId6"/>
    <p:sldId id="1803" r:id="rId7"/>
    <p:sldId id="1801" r:id="rId8"/>
    <p:sldId id="1804" r:id="rId9"/>
  </p:sldIdLst>
  <p:sldSz cx="9144000" cy="6858000" type="screen4x3"/>
  <p:notesSz cx="9866313" cy="142954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227519E2-A0D3-4B5B-94BE-A13338663232}">
          <p14:sldIdLst>
            <p14:sldId id="1161"/>
            <p14:sldId id="1773"/>
            <p14:sldId id="1771"/>
          </p14:sldIdLst>
        </p14:section>
        <p14:section name="旋入機" id="{6E21C94B-659B-486C-8749-ABB8554147FA}">
          <p14:sldIdLst>
            <p14:sldId id="1800"/>
            <p14:sldId id="1802"/>
            <p14:sldId id="1803"/>
            <p14:sldId id="1801"/>
            <p14:sldId id="1804"/>
          </p14:sldIdLst>
        </p14:section>
        <p14:section name="切割機" id="{EBEA75DE-7F45-4D9B-91A1-02B4D69F8819}">
          <p14:sldIdLst/>
        </p14:section>
        <p14:section name="切割機" id="{C4586997-6D46-442B-8509-C2FA808EFB70}">
          <p14:sldIdLst/>
        </p14:section>
      </p14:sectionLst>
    </p:ex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107">
          <p15:clr>
            <a:srgbClr val="A4A3A4"/>
          </p15:clr>
        </p15:guide>
        <p15:guide id="2" pos="2122">
          <p15:clr>
            <a:srgbClr val="A4A3A4"/>
          </p15:clr>
        </p15:guide>
        <p15:guide id="3" orient="horz" pos="4502">
          <p15:clr>
            <a:srgbClr val="A4A3A4"/>
          </p15:clr>
        </p15:guide>
        <p15:guide id="4" pos="31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6666"/>
    <a:srgbClr val="008000"/>
    <a:srgbClr val="FF0066"/>
    <a:srgbClr val="FF3300"/>
    <a:srgbClr val="FFFF99"/>
    <a:srgbClr val="FF00FF"/>
    <a:srgbClr val="FFFF00"/>
    <a:srgbClr val="00FF00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592949-E5C0-49C6-91D1-A07258157EBB}" v="311" dt="2026-04-28T16:56:16.7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929F9F4-4A8F-4326-A1B4-22849713DDAB}" styleName="深色樣式 1 - 輔色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327F97BB-C833-4FB7-BDE5-3F7075034690}" styleName="佈景主題樣式 2 - 輔色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AF606853-7671-496A-8E4F-DF71F8EC918B}" styleName="深色樣式 1 - 輔色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38B1855-1B75-4FBE-930C-398BA8C253C6}" styleName="佈景主題樣式 2 - 輔色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113A9D2-9D6B-4929-AA2D-F23B5EE8CBE7}" styleName="佈景主題樣式 2 - 輔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佈景主題樣式 2 - 輔色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8034E78-7F5D-4C2E-B375-FC64B27BC917}" styleName="深色樣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04" autoAdjust="0"/>
    <p:restoredTop sz="94548" autoAdjust="0"/>
  </p:normalViewPr>
  <p:slideViewPr>
    <p:cSldViewPr>
      <p:cViewPr>
        <p:scale>
          <a:sx n="100" d="100"/>
          <a:sy n="100" d="100"/>
        </p:scale>
        <p:origin x="-2472" y="-2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1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50" d="100"/>
          <a:sy n="50" d="100"/>
        </p:scale>
        <p:origin x="-1950" y="-108"/>
      </p:cViewPr>
      <p:guideLst>
        <p:guide orient="horz" pos="3107"/>
        <p:guide orient="horz" pos="4502"/>
        <p:guide pos="2122"/>
        <p:guide pos="31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phael Wu" userId="222e91bd63df5811" providerId="LiveId" clId="{534A9F1F-5294-42C7-A279-6BCD5E88610A}"/>
    <pc:docChg chg="undo redo custSel addSld delSld modSld modSection">
      <pc:chgData name="Raphael Wu" userId="222e91bd63df5811" providerId="LiveId" clId="{534A9F1F-5294-42C7-A279-6BCD5E88610A}" dt="2026-04-28T16:56:16.771" v="657"/>
      <pc:docMkLst>
        <pc:docMk/>
      </pc:docMkLst>
      <pc:sldChg chg="addSp delSp modSp mod modClrScheme chgLayout">
        <pc:chgData name="Raphael Wu" userId="222e91bd63df5811" providerId="LiveId" clId="{534A9F1F-5294-42C7-A279-6BCD5E88610A}" dt="2026-04-28T16:56:16.771" v="657"/>
        <pc:sldMkLst>
          <pc:docMk/>
          <pc:sldMk cId="1932736482" sldId="1786"/>
        </pc:sldMkLst>
        <pc:spChg chg="add mod">
          <ac:chgData name="Raphael Wu" userId="222e91bd63df5811" providerId="LiveId" clId="{534A9F1F-5294-42C7-A279-6BCD5E88610A}" dt="2026-04-28T16:56:16.771" v="657"/>
          <ac:spMkLst>
            <pc:docMk/>
            <pc:sldMk cId="1932736482" sldId="1786"/>
            <ac:spMk id="2" creationId="{6263174D-9A64-366A-6A59-F4F84DDA189A}"/>
          </ac:spMkLst>
        </pc:spChg>
        <pc:spChg chg="mod">
          <ac:chgData name="Raphael Wu" userId="222e91bd63df5811" providerId="LiveId" clId="{534A9F1F-5294-42C7-A279-6BCD5E88610A}" dt="2026-04-28T16:49:53.024" v="315" actId="6549"/>
          <ac:spMkLst>
            <pc:docMk/>
            <pc:sldMk cId="1932736482" sldId="1786"/>
            <ac:spMk id="7" creationId="{00000000-0000-0000-0000-000000000000}"/>
          </ac:spMkLst>
        </pc:spChg>
        <pc:spChg chg="add del mod">
          <ac:chgData name="Raphael Wu" userId="222e91bd63df5811" providerId="LiveId" clId="{534A9F1F-5294-42C7-A279-6BCD5E88610A}" dt="2026-04-28T16:28:50.600" v="127" actId="26606"/>
          <ac:spMkLst>
            <pc:docMk/>
            <pc:sldMk cId="1932736482" sldId="1786"/>
            <ac:spMk id="4102" creationId="{2F0A4A04-5D0A-3564-8B34-22F0368FA1CC}"/>
          </ac:spMkLst>
        </pc:spChg>
        <pc:spChg chg="add del mod">
          <ac:chgData name="Raphael Wu" userId="222e91bd63df5811" providerId="LiveId" clId="{534A9F1F-5294-42C7-A279-6BCD5E88610A}" dt="2026-04-28T16:28:33.709" v="100" actId="26606"/>
          <ac:spMkLst>
            <pc:docMk/>
            <pc:sldMk cId="1932736482" sldId="1786"/>
            <ac:spMk id="4105" creationId="{F30B511C-3254-4D78-72B3-CA260AF87E62}"/>
          </ac:spMkLst>
        </pc:spChg>
        <pc:picChg chg="add del mod">
          <ac:chgData name="Raphael Wu" userId="222e91bd63df5811" providerId="LiveId" clId="{534A9F1F-5294-42C7-A279-6BCD5E88610A}" dt="2026-04-28T16:53:09.303" v="320" actId="478"/>
          <ac:picMkLst>
            <pc:docMk/>
            <pc:sldMk cId="1932736482" sldId="1786"/>
            <ac:picMk id="4" creationId="{96C6F8BA-C4E1-5051-DA02-6CB3F3E0829E}"/>
          </ac:picMkLst>
        </pc:picChg>
        <pc:picChg chg="del mod">
          <ac:chgData name="Raphael Wu" userId="222e91bd63df5811" providerId="LiveId" clId="{534A9F1F-5294-42C7-A279-6BCD5E88610A}" dt="2026-04-28T16:28:58.792" v="130" actId="478"/>
          <ac:picMkLst>
            <pc:docMk/>
            <pc:sldMk cId="1932736482" sldId="1786"/>
            <ac:picMk id="4100" creationId="{00000000-0000-0000-0000-000000000000}"/>
          </ac:picMkLst>
        </pc:picChg>
      </pc:sldChg>
      <pc:sldChg chg="add del">
        <pc:chgData name="Raphael Wu" userId="222e91bd63df5811" providerId="LiveId" clId="{534A9F1F-5294-42C7-A279-6BCD5E88610A}" dt="2026-04-28T16:26:06.246" v="75" actId="47"/>
        <pc:sldMkLst>
          <pc:docMk/>
          <pc:sldMk cId="1145227835" sldId="1787"/>
        </pc:sldMkLst>
      </pc:sldChg>
      <pc:sldChg chg="modSp mod">
        <pc:chgData name="Raphael Wu" userId="222e91bd63df5811" providerId="LiveId" clId="{534A9F1F-5294-42C7-A279-6BCD5E88610A}" dt="2026-04-28T16:50:03.077" v="317" actId="20577"/>
        <pc:sldMkLst>
          <pc:docMk/>
          <pc:sldMk cId="888775061" sldId="1788"/>
        </pc:sldMkLst>
        <pc:spChg chg="mod">
          <ac:chgData name="Raphael Wu" userId="222e91bd63df5811" providerId="LiveId" clId="{534A9F1F-5294-42C7-A279-6BCD5E88610A}" dt="2026-04-28T16:50:03.077" v="317" actId="20577"/>
          <ac:spMkLst>
            <pc:docMk/>
            <pc:sldMk cId="888775061" sldId="1788"/>
            <ac:spMk id="7" creationId="{00000000-0000-0000-0000-000000000000}"/>
          </ac:spMkLst>
        </pc:spChg>
      </pc:sldChg>
      <pc:sldChg chg="addSp delSp modSp new add del mod">
        <pc:chgData name="Raphael Wu" userId="222e91bd63df5811" providerId="LiveId" clId="{534A9F1F-5294-42C7-A279-6BCD5E88610A}" dt="2026-04-28T16:50:06.592" v="318"/>
        <pc:sldMkLst>
          <pc:docMk/>
          <pc:sldMk cId="3143720186" sldId="1790"/>
        </pc:sldMkLst>
        <pc:spChg chg="add del">
          <ac:chgData name="Raphael Wu" userId="222e91bd63df5811" providerId="LiveId" clId="{534A9F1F-5294-42C7-A279-6BCD5E88610A}" dt="2026-04-28T16:26:06.806" v="78" actId="478"/>
          <ac:spMkLst>
            <pc:docMk/>
            <pc:sldMk cId="3143720186" sldId="1790"/>
            <ac:spMk id="2" creationId="{56FD1E11-8872-D8BA-2D6C-C5512FDAF4B5}"/>
          </ac:spMkLst>
        </pc:spChg>
        <pc:spChg chg="add del">
          <ac:chgData name="Raphael Wu" userId="222e91bd63df5811" providerId="LiveId" clId="{534A9F1F-5294-42C7-A279-6BCD5E88610A}" dt="2026-04-28T16:26:06.785" v="77" actId="478"/>
          <ac:spMkLst>
            <pc:docMk/>
            <pc:sldMk cId="3143720186" sldId="1790"/>
            <ac:spMk id="3" creationId="{C6D84A7A-821B-36E2-07E9-A9631CCC3E0E}"/>
          </ac:spMkLst>
        </pc:spChg>
        <pc:spChg chg="add mod">
          <ac:chgData name="Raphael Wu" userId="222e91bd63df5811" providerId="LiveId" clId="{534A9F1F-5294-42C7-A279-6BCD5E88610A}" dt="2026-04-28T16:50:06.592" v="318"/>
          <ac:spMkLst>
            <pc:docMk/>
            <pc:sldMk cId="3143720186" sldId="1790"/>
            <ac:spMk id="4" creationId="{2D4D2B73-B008-B5AD-CC0D-F1827BE7F03A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276255" cy="713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7444" tIns="63722" rIns="127444" bIns="63722" numCol="1" anchor="t" anchorCtr="0" compatLnSpc="1">
            <a:prstTxWarp prst="textNoShape">
              <a:avLst/>
            </a:prstTxWarp>
          </a:bodyPr>
          <a:lstStyle>
            <a:lvl1pPr defTabSz="1275279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550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7733" y="1"/>
            <a:ext cx="4276254" cy="713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7444" tIns="63722" rIns="127444" bIns="63722" numCol="1" anchor="t" anchorCtr="0" compatLnSpc="1">
            <a:prstTxWarp prst="textNoShape">
              <a:avLst/>
            </a:prstTxWarp>
          </a:bodyPr>
          <a:lstStyle>
            <a:lvl1pPr algn="r" defTabSz="1275279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550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13580091"/>
            <a:ext cx="4276255" cy="713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7444" tIns="63722" rIns="127444" bIns="63722" numCol="1" anchor="b" anchorCtr="0" compatLnSpc="1">
            <a:prstTxWarp prst="textNoShape">
              <a:avLst/>
            </a:prstTxWarp>
          </a:bodyPr>
          <a:lstStyle>
            <a:lvl1pPr defTabSz="1275279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550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7733" y="13580091"/>
            <a:ext cx="4276254" cy="713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7444" tIns="63722" rIns="127444" bIns="63722" numCol="1" anchor="b" anchorCtr="0" compatLnSpc="1">
            <a:prstTxWarp prst="textNoShape">
              <a:avLst/>
            </a:prstTxWarp>
          </a:bodyPr>
          <a:lstStyle>
            <a:lvl1pPr algn="r" defTabSz="1275279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fld id="{A61D345C-E68B-4329-AC0F-C4C3B9CF378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002216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276255" cy="71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t" anchorCtr="0" compatLnSpc="1">
            <a:prstTxWarp prst="textNoShape">
              <a:avLst/>
            </a:prstTxWarp>
          </a:bodyPr>
          <a:lstStyle>
            <a:lvl1pPr defTabSz="1321485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7733" y="1"/>
            <a:ext cx="4276254" cy="71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t" anchorCtr="0" compatLnSpc="1">
            <a:prstTxWarp prst="textNoShape">
              <a:avLst/>
            </a:prstTxWarp>
          </a:bodyPr>
          <a:lstStyle>
            <a:lvl1pPr algn="r" defTabSz="1321485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62075" y="1074738"/>
            <a:ext cx="7145338" cy="5359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5934" y="6790045"/>
            <a:ext cx="7894446" cy="643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13577791"/>
            <a:ext cx="4276255" cy="715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b" anchorCtr="0" compatLnSpc="1">
            <a:prstTxWarp prst="textNoShape">
              <a:avLst/>
            </a:prstTxWarp>
          </a:bodyPr>
          <a:lstStyle>
            <a:lvl1pPr defTabSz="1321485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7733" y="13577791"/>
            <a:ext cx="4276254" cy="715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2082" tIns="66042" rIns="132082" bIns="66042" numCol="1" anchor="b" anchorCtr="0" compatLnSpc="1">
            <a:prstTxWarp prst="textNoShape">
              <a:avLst/>
            </a:prstTxWarp>
          </a:bodyPr>
          <a:lstStyle>
            <a:lvl1pPr algn="r" defTabSz="1321485">
              <a:defRPr kumimoji="0" sz="1600" b="0">
                <a:cs typeface="Arial" charset="0"/>
              </a:defRPr>
            </a:lvl1pPr>
          </a:lstStyle>
          <a:p>
            <a:pPr>
              <a:defRPr/>
            </a:pPr>
            <a:fld id="{D7998E3E-5623-489C-8648-2C38346DFE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409662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998E3E-5623-489C-8648-2C38346DFE17}" type="slidenum">
              <a:rPr lang="zh-TW" altLang="en-US" smtClean="0"/>
              <a:pPr>
                <a:defRPr/>
              </a:pPr>
              <a:t>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1132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0" lang="zh-TW" altLang="en-US" sz="2400" b="0">
                <a:ea typeface="標楷體" pitchFamily="65" charset="-12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2400" b="0">
                <a:ea typeface="標楷體" pitchFamily="65" charset="-12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kumimoji="0" lang="zh-TW" altLang="en-US" sz="2400" b="0">
                  <a:ea typeface="標楷體" pitchFamily="65" charset="-120"/>
                </a:endParaRPr>
              </a:p>
            </p:txBody>
          </p:sp>
        </p:grpSp>
      </p:grpSp>
      <p:sp>
        <p:nvSpPr>
          <p:cNvPr id="18" name="Rectangle 21"/>
          <p:cNvSpPr>
            <a:spLocks noChangeArrowheads="1"/>
          </p:cNvSpPr>
          <p:nvPr/>
        </p:nvSpPr>
        <p:spPr bwMode="auto">
          <a:xfrm>
            <a:off x="3657600" y="31384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TW" altLang="en-US"/>
          </a:p>
        </p:txBody>
      </p:sp>
      <p:graphicFrame>
        <p:nvGraphicFramePr>
          <p:cNvPr id="19" name="Object 24"/>
          <p:cNvGraphicFramePr>
            <a:graphicFrameLocks noChangeAspect="1"/>
          </p:cNvGraphicFramePr>
          <p:nvPr/>
        </p:nvGraphicFramePr>
        <p:xfrm>
          <a:off x="152400" y="304800"/>
          <a:ext cx="2895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" name="Photo Editor 影像 " r:id="rId3" imgW="11050542" imgH="2095793" progId="MSPhotoEd.3">
                  <p:embed/>
                </p:oleObj>
              </mc:Choice>
              <mc:Fallback>
                <p:oleObj name="Photo Editor 影像 " r:id="rId3" imgW="11050542" imgH="2095793" progId="MSPhotoEd.3">
                  <p:embed/>
                  <p:pic>
                    <p:nvPicPr>
                      <p:cNvPr id="19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04800"/>
                        <a:ext cx="2895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013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  <a:ea typeface="新細明體" charset="-120"/>
              </a:defRPr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73013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>
                <a:ea typeface="新細明體" charset="-120"/>
              </a:defRPr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20" name="Rectangle 16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 b="0"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1" name="Rectangle 1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" name="Rectangle 18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 b="0">
                <a:ea typeface="+mn-ea"/>
              </a:defRPr>
            </a:lvl1pPr>
          </a:lstStyle>
          <a:p>
            <a:pPr>
              <a:defRPr/>
            </a:pPr>
            <a:fld id="{77A7E8C0-9A0D-4D03-A977-6C665D9EACC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26350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38765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11488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847718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矩形 7"/>
          <p:cNvSpPr/>
          <p:nvPr userDrawn="1"/>
        </p:nvSpPr>
        <p:spPr bwMode="auto">
          <a:xfrm>
            <a:off x="304800" y="5969726"/>
            <a:ext cx="8686800" cy="838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175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838339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9752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453994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221037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36898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334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3340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704078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1905000"/>
            <a:ext cx="8229600" cy="3886200"/>
          </a:xfrm>
        </p:spPr>
        <p:txBody>
          <a:bodyPr/>
          <a:lstStyle/>
          <a:p>
            <a:pPr lvl="0"/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174856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0" lang="zh-TW" altLang="en-US" sz="2400" b="0">
                <a:ea typeface="標楷體" pitchFamily="65" charset="-120"/>
              </a:endParaRPr>
            </a:p>
          </p:txBody>
        </p:sp>
        <p:sp>
          <p:nvSpPr>
            <p:cNvPr id="103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rgbClr val="FF000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2400" b="0">
                <a:ea typeface="標楷體" pitchFamily="65" charset="-120"/>
              </a:endParaRPr>
            </a:p>
          </p:txBody>
        </p:sp>
        <p:sp>
          <p:nvSpPr>
            <p:cNvPr id="103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hlink"/>
                </a:solidFill>
                <a:ea typeface="標楷體" pitchFamily="65" charset="-120"/>
              </a:endParaRPr>
            </a:p>
          </p:txBody>
        </p:sp>
        <p:sp>
          <p:nvSpPr>
            <p:cNvPr id="103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hlink"/>
                </a:solidFill>
                <a:ea typeface="標楷體" pitchFamily="65" charset="-120"/>
              </a:endParaRPr>
            </a:p>
          </p:txBody>
        </p:sp>
        <p:sp>
          <p:nvSpPr>
            <p:cNvPr id="103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accent2"/>
                </a:solidFill>
                <a:ea typeface="標楷體" pitchFamily="65" charset="-120"/>
              </a:endParaRPr>
            </a:p>
          </p:txBody>
        </p:sp>
        <p:sp>
          <p:nvSpPr>
            <p:cNvPr id="104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hlink"/>
                </a:solidFill>
                <a:ea typeface="標楷體" pitchFamily="65" charset="-120"/>
              </a:endParaRPr>
            </a:p>
          </p:txBody>
        </p:sp>
        <p:sp>
          <p:nvSpPr>
            <p:cNvPr id="104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2400" b="0">
                <a:ea typeface="標楷體" pitchFamily="65" charset="-120"/>
              </a:endParaRPr>
            </a:p>
          </p:txBody>
        </p:sp>
        <p:sp>
          <p:nvSpPr>
            <p:cNvPr id="104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accent2"/>
                </a:solidFill>
                <a:ea typeface="標楷體" pitchFamily="65" charset="-120"/>
              </a:endParaRPr>
            </a:p>
          </p:txBody>
        </p:sp>
        <p:sp>
          <p:nvSpPr>
            <p:cNvPr id="104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kumimoji="0" lang="zh-TW" altLang="en-US" sz="1800" b="0">
                <a:solidFill>
                  <a:schemeClr val="accent2"/>
                </a:solidFill>
                <a:ea typeface="標楷體" pitchFamily="65" charset="-120"/>
              </a:endParaRPr>
            </a:p>
          </p:txBody>
        </p:sp>
      </p:grpSp>
      <p:sp>
        <p:nvSpPr>
          <p:cNvPr id="102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050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Enabling Your Success</a:t>
            </a:r>
            <a:endParaRPr lang="zh-TW" altLang="en-US"/>
          </a:p>
        </p:txBody>
      </p:sp>
      <p:sp>
        <p:nvSpPr>
          <p:cNvPr id="1030" name="Rectangle 17"/>
          <p:cNvSpPr>
            <a:spLocks noChangeArrowheads="1"/>
          </p:cNvSpPr>
          <p:nvPr/>
        </p:nvSpPr>
        <p:spPr bwMode="auto">
          <a:xfrm>
            <a:off x="3657600" y="31384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TW" altLang="en-US"/>
          </a:p>
        </p:txBody>
      </p:sp>
      <p:sp>
        <p:nvSpPr>
          <p:cNvPr id="1032" name="Text Box 24"/>
          <p:cNvSpPr txBox="1">
            <a:spLocks noChangeArrowheads="1"/>
          </p:cNvSpPr>
          <p:nvPr/>
        </p:nvSpPr>
        <p:spPr bwMode="auto">
          <a:xfrm>
            <a:off x="6096000" y="152400"/>
            <a:ext cx="2819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1400">
                <a:solidFill>
                  <a:schemeClr val="accent2"/>
                </a:solidFill>
                <a:ea typeface="標楷體" pitchFamily="65" charset="-120"/>
              </a:rPr>
              <a:t>CALIN TECHNOLOGY CO.LTD.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標楷體" pitchFamily="65" charset="-12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kumimoji="1" sz="2800">
          <a:solidFill>
            <a:schemeClr val="tx1"/>
          </a:solidFill>
          <a:latin typeface="+mn-lt"/>
          <a:ea typeface="新細明體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新細明體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kumimoji="1" sz="2000">
          <a:solidFill>
            <a:schemeClr val="tx1"/>
          </a:solidFill>
          <a:latin typeface="+mn-lt"/>
          <a:ea typeface="新細明體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新細明體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2"/>
          <p:cNvSpPr>
            <a:spLocks noChangeArrowheads="1"/>
          </p:cNvSpPr>
          <p:nvPr/>
        </p:nvSpPr>
        <p:spPr bwMode="auto">
          <a:xfrm>
            <a:off x="114300" y="1499347"/>
            <a:ext cx="8915400" cy="14478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ctr">
              <a:lnSpc>
                <a:spcPct val="150000"/>
              </a:lnSpc>
            </a:pPr>
            <a:r>
              <a:rPr lang="zh-TW" altLang="en-US" sz="4400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設備部</a:t>
            </a:r>
            <a:endParaRPr lang="en-US" altLang="zh-TW" sz="4400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342900" indent="-342900" algn="ctr">
              <a:lnSpc>
                <a:spcPct val="150000"/>
              </a:lnSpc>
            </a:pPr>
            <a:r>
              <a:rPr lang="zh-TW" altLang="en-US" sz="4400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治工具設計課報告</a:t>
            </a:r>
            <a:endParaRPr lang="en-US" altLang="zh-TW" sz="4400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marL="342900" indent="-342900" algn="ctr">
              <a:lnSpc>
                <a:spcPct val="150000"/>
              </a:lnSpc>
            </a:pPr>
            <a:endParaRPr lang="en-US" altLang="zh-TW" sz="4400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3075" name="Text Box 4"/>
          <p:cNvSpPr>
            <a:spLocks noChangeArrowheads="1"/>
          </p:cNvSpPr>
          <p:nvPr/>
        </p:nvSpPr>
        <p:spPr bwMode="auto">
          <a:xfrm>
            <a:off x="3048000" y="4419600"/>
            <a:ext cx="34290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lnSpc>
                <a:spcPct val="150000"/>
              </a:lnSpc>
              <a:buSzPct val="75000"/>
            </a:pPr>
            <a:r>
              <a:rPr lang="zh-TW" altLang="en-US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報告人：吳仁中</a:t>
            </a:r>
            <a:endParaRPr lang="en-US" altLang="zh-TW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algn="ctr">
              <a:lnSpc>
                <a:spcPct val="150000"/>
              </a:lnSpc>
              <a:buSzPct val="75000"/>
            </a:pPr>
            <a:r>
              <a:rPr lang="zh-TW" altLang="en-US" b="0" dirty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日期：</a:t>
            </a:r>
            <a:r>
              <a:rPr lang="en-US" altLang="zh-TW" b="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2026/07/21</a:t>
            </a:r>
            <a:endParaRPr lang="en-US" altLang="zh-TW" b="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18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40399" y="516626"/>
            <a:ext cx="188925" cy="188925"/>
          </a:xfrm>
          <a:prstGeom prst="rect">
            <a:avLst/>
          </a:prstGeom>
          <a:solidFill>
            <a:srgbClr val="FF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083399" y="516626"/>
            <a:ext cx="188925" cy="1889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6161861" y="4572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評估中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7304861" y="45720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執行中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8153400" y="516625"/>
            <a:ext cx="188925" cy="18892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8419286" y="46778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b="0" dirty="0">
                <a:latin typeface="標楷體" pitchFamily="65" charset="-120"/>
                <a:ea typeface="標楷體" pitchFamily="65" charset="-120"/>
              </a:rPr>
              <a:t>暫停</a:t>
            </a: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317835"/>
              </p:ext>
            </p:extLst>
          </p:nvPr>
        </p:nvGraphicFramePr>
        <p:xfrm>
          <a:off x="123830" y="822932"/>
          <a:ext cx="8943973" cy="59588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9574"/>
                <a:gridCol w="1066800"/>
                <a:gridCol w="533400"/>
                <a:gridCol w="990596"/>
                <a:gridCol w="914400"/>
                <a:gridCol w="1600200"/>
                <a:gridCol w="1524004"/>
                <a:gridCol w="990600"/>
                <a:gridCol w="914399"/>
              </a:tblGrid>
              <a:tr h="5750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1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No.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專案名稱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需求單位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開始</a:t>
                      </a:r>
                      <a:endParaRPr lang="en-US" altLang="zh-TW" sz="1200" b="1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時間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預計完成時間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2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本週工作項目</a:t>
                      </a:r>
                      <a:endParaRPr lang="zh-TW" altLang="en-US" sz="12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下週工作項目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效益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負責人</a:t>
                      </a:r>
                      <a:endParaRPr lang="zh-TW" altLang="en-US" sz="1200" b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10000"/>
                      </a:schemeClr>
                    </a:solidFill>
                  </a:tcPr>
                </a:tc>
              </a:tr>
              <a:tr h="18461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1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  <a:hlinkClick r:id="rId2" action="ppaction://hlinksldjump"/>
                        </a:rPr>
                        <a:t>366</a:t>
                      </a: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  <a:hlinkClick r:id="rId2" action="ppaction://hlinksldjump"/>
                        </a:rPr>
                        <a:t> </a:t>
                      </a: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  <a:hlinkClick r:id="rId2" action="ppaction://hlinksldjump"/>
                        </a:rPr>
                        <a:t>Holder</a:t>
                      </a: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  <a:hlinkClick r:id="rId2" action="ppaction://hlinksldjump"/>
                        </a:rPr>
                        <a:t>旋入</a:t>
                      </a:r>
                      <a:r>
                        <a:rPr lang="en-US" altLang="zh-TW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  <a:hlinkClick r:id="rId2" action="ppaction://hlinksldjump"/>
                        </a:rPr>
                        <a:t>+</a:t>
                      </a: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  <a:hlinkClick r:id="rId2" action="ppaction://hlinksldjump"/>
                        </a:rPr>
                        <a:t>扭力確認</a:t>
                      </a:r>
                      <a:endParaRPr lang="en-US" altLang="zh-TW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組裝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zh-TW" sz="1200" b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  <a:sym typeface="Wingdings" pitchFamily="2" charset="2"/>
                        </a:rPr>
                        <a:t>2025/04/01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strike="sngStrike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  <a:sym typeface="Wingdings" pitchFamily="2" charset="2"/>
                        </a:rPr>
                        <a:t>2026/3/31</a:t>
                      </a:r>
                      <a:endParaRPr lang="en-US" altLang="zh-TW" sz="1200" b="0" strike="noStrike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strike="noStrike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  <a:sym typeface="Wingdings" pitchFamily="2" charset="2"/>
                        </a:rPr>
                        <a:t>2026/6/30</a:t>
                      </a:r>
                      <a:endParaRPr lang="en-US" altLang="zh-TW" sz="1200" b="0" strike="sngStrike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測試使用電容做濾波的效果。</a:t>
                      </a:r>
                      <a:endParaRPr lang="en-US" altLang="zh-TW" sz="1200" dirty="0" smtClean="0"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將目前作業流程中，參數部分拉到</a:t>
                      </a:r>
                      <a:r>
                        <a:rPr lang="en-US" altLang="zh-TW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UI</a:t>
                      </a:r>
                      <a:r>
                        <a:rPr lang="zh-TW" altLang="en-US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上變為可調整。</a:t>
                      </a:r>
                      <a:endParaRPr lang="en-US" altLang="zh-TW" sz="1200" dirty="0" smtClean="0"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新扭力計特性測試。</a:t>
                      </a:r>
                      <a:endParaRPr lang="en-US" altLang="zh-TW" sz="1200" dirty="0" smtClean="0"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品質穩定</a:t>
                      </a:r>
                      <a:endParaRPr lang="en-US" altLang="zh-TW" sz="1200" dirty="0" smtClean="0"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節省人力</a:t>
                      </a:r>
                      <a:endParaRPr lang="en-US" altLang="zh-TW" sz="1200" dirty="0" smtClean="0"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技術提升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蔡孟堅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苗天恒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吳仁中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李起修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6915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2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en-US" sz="1200" dirty="0" smtClean="0">
                          <a:latin typeface="Times New Roman" pitchFamily="18" charset="0"/>
                          <a:ea typeface="+mn-ea"/>
                          <a:cs typeface="Times New Roman" pitchFamily="18" charset="0"/>
                          <a:sym typeface="Wingdings" pitchFamily="2" charset="2"/>
                        </a:rPr>
                        <a:t>切割拆解機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組裝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zh-TW" sz="1200" b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  <a:sym typeface="Wingdings" pitchFamily="2" charset="2"/>
                        </a:rPr>
                        <a:t>2025/12/01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  <a:sym typeface="Wingdings" pitchFamily="2" charset="2"/>
                        </a:rPr>
                        <a:t>2026/6/30</a:t>
                      </a: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有限狀態機實驗。</a:t>
                      </a:r>
                      <a:endParaRPr lang="en-US" altLang="zh-TW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實機測試。</a:t>
                      </a:r>
                      <a:endParaRPr lang="en-US" altLang="zh-TW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提升重工效率</a:t>
                      </a:r>
                      <a:endParaRPr lang="en-US" altLang="zh-TW" sz="1200" dirty="0" smtClean="0"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r>
                        <a:rPr lang="zh-TW" altLang="en-US" sz="1200" dirty="0" smtClean="0">
                          <a:latin typeface="+mn-lt"/>
                          <a:ea typeface="+mn-ea"/>
                          <a:cs typeface="Times New Roman" pitchFamily="18" charset="0"/>
                        </a:rPr>
                        <a:t>技術提升</a:t>
                      </a:r>
                    </a:p>
                    <a:p>
                      <a:pPr marL="171450" indent="-171450" algn="l">
                        <a:buFont typeface="Arial" pitchFamily="34" charset="0"/>
                        <a:buChar char="•"/>
                      </a:pPr>
                      <a:endParaRPr lang="zh-TW" altLang="en-US" sz="1200" dirty="0" smtClean="0"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蔡孟堅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苗天恒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吳仁中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zh-TW" altLang="en-US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李起修</a:t>
                      </a: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8461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itchFamily="18" charset="0"/>
                        </a:rPr>
                        <a:t>3</a:t>
                      </a:r>
                      <a:endParaRPr lang="zh-TW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zh-TW" sz="1200" b="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strike="sngStrike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  <a:sym typeface="Wingdings" pitchFamily="2" charset="2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dirty="0" smtClean="0"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dirty="0" smtClean="0"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>
                        <a:buFont typeface="Arial" pitchFamily="34" charset="0"/>
                        <a:buChar char="•"/>
                      </a:pPr>
                      <a:endParaRPr lang="zh-TW" altLang="en-US" sz="1200" dirty="0" smtClean="0"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zh-TW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Times New Roman" pitchFamily="18" charset="0"/>
                      </a:endParaRPr>
                    </a:p>
                  </a:txBody>
                  <a:tcPr marT="45723" marB="4572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2768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ChangeArrowheads="1"/>
          </p:cNvSpPr>
          <p:nvPr/>
        </p:nvSpPr>
        <p:spPr bwMode="auto">
          <a:xfrm>
            <a:off x="1292229" y="2279650"/>
            <a:ext cx="6480175" cy="252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charset="0"/>
                <a:ea typeface="標楷體" pitchFamily="65" charset="-120"/>
                <a:cs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TW" altLang="en-US" sz="4400" b="0" dirty="0">
                <a:latin typeface="+mn-ea"/>
                <a:ea typeface="+mn-ea"/>
              </a:rPr>
              <a:t>報告完畢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TW" altLang="en-US" sz="4400" b="0" dirty="0">
                <a:latin typeface="+mn-ea"/>
                <a:ea typeface="+mn-ea"/>
              </a:rPr>
              <a:t>感謝指教</a:t>
            </a:r>
          </a:p>
        </p:txBody>
      </p:sp>
    </p:spTree>
    <p:extLst>
      <p:ext uri="{BB962C8B-B14F-4D97-AF65-F5344CB8AC3E}">
        <p14:creationId xmlns:p14="http://schemas.microsoft.com/office/powerpoint/2010/main" val="2656984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="" xmlns:a16="http://schemas.microsoft.com/office/drawing/2014/main" id="{2D4D2B73-B008-B5AD-CC0D-F1827BE7F03A}"/>
              </a:ext>
            </a:extLst>
          </p:cNvPr>
          <p:cNvSpPr txBox="1"/>
          <p:nvPr/>
        </p:nvSpPr>
        <p:spPr>
          <a:xfrm>
            <a:off x="403354" y="380999"/>
            <a:ext cx="30315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</a:t>
            </a:r>
            <a:r>
              <a:rPr lang="zh-TW" altLang="en-US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鎖附流程改善項目</a:t>
            </a:r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="" xmlns:a16="http://schemas.microsoft.com/office/drawing/2014/main" id="{6263174D-9A64-366A-6A59-F4F84DDA189A}"/>
              </a:ext>
            </a:extLst>
          </p:cNvPr>
          <p:cNvSpPr txBox="1">
            <a:spLocks/>
          </p:cNvSpPr>
          <p:nvPr/>
        </p:nvSpPr>
        <p:spPr>
          <a:xfrm>
            <a:off x="304800" y="990600"/>
            <a:ext cx="8229600" cy="1676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 marL="0" indent="0">
              <a:lnSpc>
                <a:spcPct val="150000"/>
              </a:lnSpc>
              <a:buClrTx/>
              <a:buNone/>
            </a:pPr>
            <a:r>
              <a:rPr lang="en-US" altLang="zh-TW" sz="2000" b="0" kern="0" dirty="0" smtClean="0">
                <a:latin typeface="+mn-ea"/>
              </a:rPr>
              <a:t>1.</a:t>
            </a:r>
            <a:r>
              <a:rPr lang="zh-TW" altLang="en-US" sz="2000" b="0" kern="0" dirty="0" smtClean="0">
                <a:latin typeface="+mn-ea"/>
              </a:rPr>
              <a:t>尋邊方法的變更：</a:t>
            </a:r>
            <a:endParaRPr lang="en-US" altLang="zh-TW" sz="2000" b="0" kern="0" dirty="0" smtClean="0">
              <a:latin typeface="+mn-ea"/>
            </a:endParaRPr>
          </a:p>
          <a:p>
            <a:pPr marL="0" indent="0">
              <a:lnSpc>
                <a:spcPct val="150000"/>
              </a:lnSpc>
              <a:buClrTx/>
              <a:buNone/>
            </a:pPr>
            <a:r>
              <a:rPr lang="zh-TW" altLang="en-US" sz="2000" b="0" kern="0" dirty="0" smtClean="0">
                <a:latin typeface="+mn-ea"/>
              </a:rPr>
              <a:t>  影響因素：</a:t>
            </a:r>
            <a:r>
              <a:rPr lang="zh-TW" altLang="en-US" sz="2000" b="0" kern="0" dirty="0">
                <a:latin typeface="+mn-ea"/>
              </a:rPr>
              <a:t>上下緣抓取的延遲、取得的脈波寬度不一致</a:t>
            </a:r>
            <a:r>
              <a:rPr lang="zh-TW" altLang="en-US" sz="2000" b="0" kern="0" dirty="0" smtClean="0">
                <a:latin typeface="+mn-ea"/>
              </a:rPr>
              <a:t>。</a:t>
            </a:r>
            <a:endParaRPr lang="en-US" altLang="zh-TW" sz="2000" b="0" kern="0" dirty="0" smtClean="0">
              <a:latin typeface="+mn-ea"/>
            </a:endParaRPr>
          </a:p>
          <a:p>
            <a:pPr marL="400050" lvl="1" indent="0">
              <a:lnSpc>
                <a:spcPct val="150000"/>
              </a:lnSpc>
              <a:buClrTx/>
              <a:buNone/>
            </a:pPr>
            <a:r>
              <a:rPr lang="en-US" altLang="zh-TW" sz="2000" b="0" kern="0" dirty="0" smtClean="0">
                <a:latin typeface="+mn-ea"/>
                <a:ea typeface="+mn-ea"/>
              </a:rPr>
              <a:t>a) Sensor </a:t>
            </a:r>
            <a:r>
              <a:rPr lang="en-US" altLang="zh-TW" sz="2000" b="0" kern="0" dirty="0">
                <a:latin typeface="+mn-ea"/>
                <a:ea typeface="+mn-ea"/>
              </a:rPr>
              <a:t>1</a:t>
            </a:r>
            <a:r>
              <a:rPr lang="zh-TW" altLang="en-US" sz="2000" b="0" kern="0" dirty="0">
                <a:latin typeface="+mn-ea"/>
                <a:ea typeface="+mn-ea"/>
              </a:rPr>
              <a:t>較不穩定，在暫時不調整的情況下，改用</a:t>
            </a:r>
            <a:r>
              <a:rPr lang="en-US" altLang="zh-TW" sz="2000" b="0" kern="0" dirty="0">
                <a:latin typeface="+mn-ea"/>
                <a:ea typeface="+mn-ea"/>
              </a:rPr>
              <a:t>Sensor 2</a:t>
            </a:r>
            <a:r>
              <a:rPr lang="zh-TW" altLang="en-US" sz="2000" b="0" kern="0" dirty="0" smtClean="0">
                <a:latin typeface="+mn-ea"/>
                <a:ea typeface="+mn-ea"/>
              </a:rPr>
              <a:t>。</a:t>
            </a:r>
            <a:endParaRPr lang="en-US" altLang="zh-TW" sz="2000" b="0" kern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39270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="" xmlns:a16="http://schemas.microsoft.com/office/drawing/2014/main" id="{2D4D2B73-B008-B5AD-CC0D-F1827BE7F03A}"/>
              </a:ext>
            </a:extLst>
          </p:cNvPr>
          <p:cNvSpPr txBox="1"/>
          <p:nvPr/>
        </p:nvSpPr>
        <p:spPr>
          <a:xfrm>
            <a:off x="403354" y="380999"/>
            <a:ext cx="30315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</a:t>
            </a:r>
            <a:r>
              <a:rPr lang="zh-TW" altLang="en-US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鎖附流程改善項目</a:t>
            </a:r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="" xmlns:a16="http://schemas.microsoft.com/office/drawing/2014/main" id="{6263174D-9A64-366A-6A59-F4F84DDA189A}"/>
              </a:ext>
            </a:extLst>
          </p:cNvPr>
          <p:cNvSpPr txBox="1">
            <a:spLocks/>
          </p:cNvSpPr>
          <p:nvPr/>
        </p:nvSpPr>
        <p:spPr>
          <a:xfrm>
            <a:off x="403354" y="990600"/>
            <a:ext cx="8131046" cy="1676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 marL="0" lvl="1" indent="0">
              <a:lnSpc>
                <a:spcPct val="150000"/>
              </a:lnSpc>
              <a:buClrTx/>
              <a:buNone/>
            </a:pPr>
            <a:r>
              <a:rPr lang="en-US" altLang="zh-TW" sz="2000" b="0" kern="0" dirty="0" smtClean="0">
                <a:latin typeface="+mn-ea"/>
                <a:ea typeface="+mn-ea"/>
              </a:rPr>
              <a:t>b) </a:t>
            </a:r>
            <a:r>
              <a:rPr lang="zh-TW" altLang="en-US" sz="2000" b="0" kern="0" dirty="0" smtClean="0">
                <a:latin typeface="+mn-ea"/>
                <a:ea typeface="+mn-ea"/>
              </a:rPr>
              <a:t>原本只有取正</a:t>
            </a:r>
            <a:r>
              <a:rPr lang="en-US" altLang="zh-TW" sz="2000" b="0" kern="0" dirty="0" smtClean="0">
                <a:latin typeface="+mn-ea"/>
                <a:ea typeface="+mn-ea"/>
              </a:rPr>
              <a:t>/</a:t>
            </a:r>
            <a:r>
              <a:rPr lang="zh-TW" altLang="en-US" sz="2000" b="0" kern="0" dirty="0" smtClean="0">
                <a:latin typeface="+mn-ea"/>
                <a:ea typeface="+mn-ea"/>
              </a:rPr>
              <a:t>反轉的上緣的中間角度為最終角度；</a:t>
            </a:r>
            <a:r>
              <a:rPr lang="en-US" altLang="zh-TW" sz="2000" b="0" kern="0" dirty="0" smtClean="0">
                <a:latin typeface="+mn-ea"/>
                <a:ea typeface="+mn-ea"/>
              </a:rPr>
              <a:t/>
            </a:r>
            <a:br>
              <a:rPr lang="en-US" altLang="zh-TW" sz="2000" b="0" kern="0" dirty="0" smtClean="0">
                <a:latin typeface="+mn-ea"/>
                <a:ea typeface="+mn-ea"/>
              </a:rPr>
            </a:br>
            <a:r>
              <a:rPr lang="en-US" altLang="zh-TW" sz="2000" b="0" kern="0" dirty="0" smtClean="0">
                <a:latin typeface="+mn-ea"/>
                <a:ea typeface="+mn-ea"/>
              </a:rPr>
              <a:t>   </a:t>
            </a:r>
            <a:r>
              <a:rPr lang="zh-TW" altLang="en-US" sz="2000" b="0" kern="0" dirty="0" smtClean="0">
                <a:latin typeface="+mn-ea"/>
                <a:ea typeface="+mn-ea"/>
              </a:rPr>
              <a:t>修改為取正</a:t>
            </a:r>
            <a:r>
              <a:rPr lang="en-US" altLang="zh-TW" sz="2000" b="0" kern="0" dirty="0" smtClean="0">
                <a:latin typeface="+mn-ea"/>
                <a:ea typeface="+mn-ea"/>
              </a:rPr>
              <a:t>/</a:t>
            </a:r>
            <a:r>
              <a:rPr lang="zh-TW" altLang="en-US" sz="2000" b="0" kern="0" dirty="0" smtClean="0">
                <a:latin typeface="+mn-ea"/>
                <a:ea typeface="+mn-ea"/>
              </a:rPr>
              <a:t>反轉中心角度後，再取其</a:t>
            </a:r>
            <a:r>
              <a:rPr lang="zh-TW" altLang="en-US" sz="2000" b="0" kern="0" dirty="0">
                <a:latin typeface="+mn-ea"/>
                <a:ea typeface="+mn-ea"/>
              </a:rPr>
              <a:t>平均角度為最終</a:t>
            </a:r>
            <a:r>
              <a:rPr lang="zh-TW" altLang="en-US" sz="2000" b="0" kern="0" dirty="0" smtClean="0">
                <a:latin typeface="+mn-ea"/>
                <a:ea typeface="+mn-ea"/>
              </a:rPr>
              <a:t>角度。</a:t>
            </a:r>
            <a:endParaRPr lang="en-US" altLang="zh-TW" sz="2000" b="0" kern="0" dirty="0" smtClean="0">
              <a:latin typeface="+mn-ea"/>
              <a:ea typeface="+mn-ea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="" xmlns:a16="http://schemas.microsoft.com/office/drawing/2014/main" id="{6263174D-9A64-366A-6A59-F4F84DDA189A}"/>
              </a:ext>
            </a:extLst>
          </p:cNvPr>
          <p:cNvSpPr txBox="1">
            <a:spLocks/>
          </p:cNvSpPr>
          <p:nvPr/>
        </p:nvSpPr>
        <p:spPr>
          <a:xfrm>
            <a:off x="403354" y="1981200"/>
            <a:ext cx="3254246" cy="4876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 marL="360000" lvl="1" indent="0">
              <a:lnSpc>
                <a:spcPct val="150000"/>
              </a:lnSpc>
              <a:buClrTx/>
              <a:buNone/>
            </a:pPr>
            <a:r>
              <a:rPr lang="zh-TW" altLang="en-US" sz="2000" b="0" kern="0" dirty="0" smtClean="0">
                <a:latin typeface="+mn-ea"/>
                <a:ea typeface="+mn-ea"/>
              </a:rPr>
              <a:t>如右圖為例，新方法最後取得的角度，比舊方法偏左一點，是與觀察到的較為準確。</a:t>
            </a:r>
            <a:endParaRPr lang="en-US" altLang="zh-TW" sz="2000" b="0" kern="0" dirty="0" smtClean="0">
              <a:latin typeface="+mn-ea"/>
              <a:ea typeface="+mn-ea"/>
            </a:endParaRPr>
          </a:p>
          <a:p>
            <a:pPr marL="0" lvl="1" indent="0">
              <a:lnSpc>
                <a:spcPct val="150000"/>
              </a:lnSpc>
              <a:buClrTx/>
              <a:buNone/>
            </a:pPr>
            <a:r>
              <a:rPr lang="en-US" altLang="zh-TW" sz="2000" b="0" kern="0" dirty="0" smtClean="0">
                <a:latin typeface="+mn-ea"/>
                <a:ea typeface="+mn-ea"/>
              </a:rPr>
              <a:t>c) </a:t>
            </a:r>
            <a:r>
              <a:rPr lang="zh-TW" altLang="en-US" sz="2000" b="0" kern="0" dirty="0" smtClean="0">
                <a:latin typeface="+mn-ea"/>
                <a:ea typeface="+mn-ea"/>
              </a:rPr>
              <a:t>結果：</a:t>
            </a:r>
            <a:endParaRPr lang="en-US" altLang="zh-TW" sz="2000" b="0" kern="0" dirty="0" smtClean="0">
              <a:latin typeface="+mn-ea"/>
              <a:ea typeface="+mn-ea"/>
            </a:endParaRPr>
          </a:p>
          <a:p>
            <a:pPr marL="342900" lvl="1" indent="-342900">
              <a:lnSpc>
                <a:spcPct val="150000"/>
              </a:lnSpc>
              <a:buClrTx/>
              <a:buFont typeface="Wingdings" panose="05000000000000000000" pitchFamily="2" charset="2"/>
              <a:buChar char="u"/>
            </a:pPr>
            <a:r>
              <a:rPr lang="zh-TW" altLang="en-US" sz="2000" b="0" kern="0" dirty="0" smtClean="0">
                <a:latin typeface="+mn-ea"/>
                <a:ea typeface="+mn-ea"/>
              </a:rPr>
              <a:t>花瓣辨識成功率幾乎</a:t>
            </a:r>
            <a:r>
              <a:rPr lang="en-US" altLang="zh-TW" sz="2000" b="0" kern="0" dirty="0" smtClean="0">
                <a:latin typeface="+mn-ea"/>
                <a:ea typeface="+mn-ea"/>
              </a:rPr>
              <a:t>100%</a:t>
            </a:r>
            <a:r>
              <a:rPr lang="zh-TW" altLang="en-US" sz="2000" b="0" kern="0" dirty="0" smtClean="0">
                <a:latin typeface="+mn-ea"/>
                <a:ea typeface="+mn-ea"/>
              </a:rPr>
              <a:t>，減少重新尋找的時間損失。</a:t>
            </a:r>
            <a:endParaRPr lang="en-US" altLang="zh-TW" sz="2000" b="0" kern="0" dirty="0" smtClean="0">
              <a:latin typeface="+mn-ea"/>
              <a:ea typeface="+mn-ea"/>
            </a:endParaRPr>
          </a:p>
          <a:p>
            <a:pPr marL="0" lvl="1" indent="0">
              <a:lnSpc>
                <a:spcPct val="150000"/>
              </a:lnSpc>
              <a:buClrTx/>
              <a:buFont typeface="Wingdings" panose="05000000000000000000" pitchFamily="2" charset="2"/>
              <a:buChar char="u"/>
            </a:pPr>
            <a:r>
              <a:rPr lang="zh-TW" altLang="en-US" sz="2000" b="0" kern="0" dirty="0" smtClean="0">
                <a:latin typeface="+mn-ea"/>
                <a:ea typeface="+mn-ea"/>
              </a:rPr>
              <a:t>準確度提升。</a:t>
            </a:r>
            <a:endParaRPr lang="en-US" altLang="zh-TW" sz="2000" b="0" kern="0" dirty="0" smtClean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99388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="" xmlns:a16="http://schemas.microsoft.com/office/drawing/2014/main" id="{2D4D2B73-B008-B5AD-CC0D-F1827BE7F03A}"/>
              </a:ext>
            </a:extLst>
          </p:cNvPr>
          <p:cNvSpPr txBox="1"/>
          <p:nvPr/>
        </p:nvSpPr>
        <p:spPr>
          <a:xfrm>
            <a:off x="403354" y="380999"/>
            <a:ext cx="30315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</a:t>
            </a:r>
            <a:r>
              <a:rPr lang="zh-TW" altLang="en-US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鎖附流程改善項目</a:t>
            </a:r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="" xmlns:a16="http://schemas.microsoft.com/office/drawing/2014/main" id="{6263174D-9A64-366A-6A59-F4F84DDA189A}"/>
              </a:ext>
            </a:extLst>
          </p:cNvPr>
          <p:cNvSpPr txBox="1">
            <a:spLocks/>
          </p:cNvSpPr>
          <p:nvPr/>
        </p:nvSpPr>
        <p:spPr>
          <a:xfrm>
            <a:off x="403354" y="990600"/>
            <a:ext cx="8131046" cy="1676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 marL="0" lvl="1" indent="0">
              <a:lnSpc>
                <a:spcPct val="150000"/>
              </a:lnSpc>
              <a:buClrTx/>
              <a:buNone/>
            </a:pPr>
            <a:r>
              <a:rPr lang="en-US" altLang="zh-TW" sz="2000" b="0" kern="0" dirty="0" smtClean="0">
                <a:latin typeface="+mn-ea"/>
                <a:ea typeface="+mn-ea"/>
              </a:rPr>
              <a:t>2.</a:t>
            </a:r>
            <a:r>
              <a:rPr lang="zh-TW" altLang="en-US" sz="2000" b="0" kern="0" dirty="0" smtClean="0">
                <a:latin typeface="+mn-ea"/>
                <a:ea typeface="+mn-ea"/>
              </a:rPr>
              <a:t>鎖附流程簡化、減少步驟間不必要的延遲。</a:t>
            </a:r>
            <a:endParaRPr lang="en-US" altLang="zh-TW" sz="2000" b="0" kern="0" dirty="0" smtClean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511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="" xmlns:a16="http://schemas.microsoft.com/office/drawing/2014/main" id="{2D4D2B73-B008-B5AD-CC0D-F1827BE7F03A}"/>
              </a:ext>
            </a:extLst>
          </p:cNvPr>
          <p:cNvSpPr txBox="1"/>
          <p:nvPr/>
        </p:nvSpPr>
        <p:spPr>
          <a:xfrm>
            <a:off x="403354" y="380999"/>
            <a:ext cx="49306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</a:t>
            </a:r>
            <a:r>
              <a:rPr lang="zh-TW" altLang="en-US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新扭力計無負載測試</a:t>
            </a:r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="" xmlns:a16="http://schemas.microsoft.com/office/drawing/2014/main" id="{6263174D-9A64-366A-6A59-F4F84DDA189A}"/>
              </a:ext>
            </a:extLst>
          </p:cNvPr>
          <p:cNvSpPr txBox="1">
            <a:spLocks/>
          </p:cNvSpPr>
          <p:nvPr/>
        </p:nvSpPr>
        <p:spPr>
          <a:xfrm>
            <a:off x="475442" y="990600"/>
            <a:ext cx="7830358" cy="91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kumimoji="1" sz="2800">
                <a:solidFill>
                  <a:schemeClr val="tx1"/>
                </a:solidFill>
                <a:latin typeface="+mn-lt"/>
                <a:ea typeface="新細明體" charset="-12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新細明體" charset="-12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新細明體" charset="-120"/>
              </a:defRPr>
            </a:lvl9pPr>
          </a:lstStyle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ü"/>
            </a:pPr>
            <a:r>
              <a:rPr lang="zh-TW" altLang="en-US" sz="1800" b="0" kern="0" dirty="0" smtClean="0">
                <a:latin typeface="+mn-ea"/>
                <a:ea typeface="+mn-ea"/>
              </a:rPr>
              <a:t>新扭力計電路接線已完成</a:t>
            </a:r>
            <a:r>
              <a:rPr lang="en-US" altLang="zh-TW" sz="1800" b="0" kern="0" dirty="0" smtClean="0">
                <a:latin typeface="+mn-ea"/>
                <a:ea typeface="+mn-ea"/>
              </a:rPr>
              <a:t>(</a:t>
            </a:r>
            <a:r>
              <a:rPr lang="zh-TW" altLang="en-US" sz="1800" b="0" kern="0" dirty="0" smtClean="0">
                <a:latin typeface="+mn-ea"/>
                <a:ea typeface="+mn-ea"/>
              </a:rPr>
              <a:t>啟修</a:t>
            </a:r>
            <a:r>
              <a:rPr lang="en-US" altLang="zh-TW" sz="1800" b="0" kern="0" dirty="0" smtClean="0">
                <a:latin typeface="+mn-ea"/>
                <a:ea typeface="+mn-ea"/>
              </a:rPr>
              <a:t>)</a:t>
            </a:r>
            <a:r>
              <a:rPr lang="zh-TW" altLang="en-US" sz="1800" b="0" kern="0" dirty="0" smtClean="0">
                <a:latin typeface="+mn-ea"/>
                <a:ea typeface="+mn-ea"/>
              </a:rPr>
              <a:t>，無負載靜態測試如下一頁所示。</a:t>
            </a:r>
            <a:endParaRPr lang="en-US" altLang="zh-TW" sz="1800" b="0" kern="0" dirty="0" smtClean="0">
              <a:latin typeface="+mn-ea"/>
              <a:ea typeface="+mn-ea"/>
            </a:endParaRPr>
          </a:p>
        </p:txBody>
      </p:sp>
      <p:pic>
        <p:nvPicPr>
          <p:cNvPr id="6152" name="Picture 8" descr="D:\專案\366-Holder旋入裝置\測試數據\20260714 新扭力計\20260714_13522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257800"/>
            <a:ext cx="1955800" cy="124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5692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="" xmlns:a16="http://schemas.microsoft.com/office/drawing/2014/main" id="{2D4D2B73-B008-B5AD-CC0D-F1827BE7F03A}"/>
              </a:ext>
            </a:extLst>
          </p:cNvPr>
          <p:cNvSpPr txBox="1"/>
          <p:nvPr/>
        </p:nvSpPr>
        <p:spPr>
          <a:xfrm>
            <a:off x="403354" y="380999"/>
            <a:ext cx="49306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※ </a:t>
            </a:r>
            <a:r>
              <a:rPr lang="zh-TW" altLang="en-US" sz="24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新扭力計無負載測試</a:t>
            </a:r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endParaRPr lang="zh-TW" altLang="en-US" sz="2400" dirty="0"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sp>
        <p:nvSpPr>
          <p:cNvPr id="7" name="動作按鈕: 下一項 6">
            <a:hlinkClick r:id="rId2" action="ppaction://hlinksldjump" highlightClick="1"/>
          </p:cNvPr>
          <p:cNvSpPr/>
          <p:nvPr/>
        </p:nvSpPr>
        <p:spPr bwMode="auto">
          <a:xfrm>
            <a:off x="8820957" y="6562875"/>
            <a:ext cx="323043" cy="292200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新細明體" charset="-12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294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ixe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ixel">
      <a:majorFont>
        <a:latin typeface="Arial"/>
        <a:ea typeface="標楷體"/>
        <a:cs typeface="Arial"/>
      </a:majorFont>
      <a:minorFont>
        <a:latin typeface="Arial"/>
        <a:ea typeface="標楷體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  <a:cs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151637</TotalTime>
  <Words>312</Words>
  <Application>Microsoft Office PowerPoint</Application>
  <PresentationFormat>如螢幕大小 (4:3)</PresentationFormat>
  <Paragraphs>65</Paragraphs>
  <Slides>8</Slides>
  <Notes>1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0" baseType="lpstr">
      <vt:lpstr>Pixel</vt:lpstr>
      <vt:lpstr>Photo Editor 影像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台和全球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mlee</dc:creator>
  <cp:lastModifiedBy>Raphael.wu(吳仁中)</cp:lastModifiedBy>
  <cp:revision>10592</cp:revision>
  <cp:lastPrinted>2019-02-20T00:08:27Z</cp:lastPrinted>
  <dcterms:created xsi:type="dcterms:W3CDTF">2003-08-13T01:23:13Z</dcterms:created>
  <dcterms:modified xsi:type="dcterms:W3CDTF">2026-07-20T09:25:47Z</dcterms:modified>
</cp:coreProperties>
</file>