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2"/>
  </p:notesMasterIdLst>
  <p:handoutMasterIdLst>
    <p:handoutMasterId r:id="rId13"/>
  </p:handoutMasterIdLst>
  <p:sldIdLst>
    <p:sldId id="1161" r:id="rId2"/>
    <p:sldId id="1773" r:id="rId3"/>
    <p:sldId id="1771" r:id="rId4"/>
    <p:sldId id="1808" r:id="rId5"/>
    <p:sldId id="1806" r:id="rId6"/>
    <p:sldId id="1810" r:id="rId7"/>
    <p:sldId id="1811" r:id="rId8"/>
    <p:sldId id="1802" r:id="rId9"/>
    <p:sldId id="1803" r:id="rId10"/>
    <p:sldId id="1807" r:id="rId11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771"/>
          </p14:sldIdLst>
        </p14:section>
        <p14:section name="旋入機" id="{6E21C94B-659B-486C-8749-ABB8554147FA}">
          <p14:sldIdLst>
            <p14:sldId id="1808"/>
            <p14:sldId id="1806"/>
            <p14:sldId id="1810"/>
            <p14:sldId id="1811"/>
          </p14:sldIdLst>
        </p14:section>
        <p14:section name="切割機" id="{C4586997-6D46-442B-8509-C2FA808EFB70}">
          <p14:sldIdLst/>
        </p14:section>
        <p14:section name="FAU" id="{4B8F02B5-416E-41FC-AC52-3586BD47D4AF}">
          <p14:sldIdLst>
            <p14:sldId id="1802"/>
            <p14:sldId id="1803"/>
          </p14:sldIdLst>
        </p14:section>
        <p14:section name="維修/改機" id="{61EABBFE-1824-4B3D-92C1-02F542C96554}">
          <p14:sldIdLst>
            <p14:sldId id="180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7D1"/>
    <a:srgbClr val="FF9900"/>
    <a:srgbClr val="006666"/>
    <a:srgbClr val="008000"/>
    <a:srgbClr val="FF0066"/>
    <a:srgbClr val="FF3300"/>
    <a:srgbClr val="FFFF99"/>
    <a:srgbClr val="FF00FF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92949-E5C0-49C6-91D1-A07258157EBB}" v="311" dt="2026-04-28T16:56:1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548" autoAdjust="0"/>
  </p:normalViewPr>
  <p:slideViewPr>
    <p:cSldViewPr>
      <p:cViewPr>
        <p:scale>
          <a:sx n="100" d="100"/>
          <a:sy n="100" d="100"/>
        </p:scale>
        <p:origin x="-247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4-28T16:56:16.771" v="657"/>
      <pc:docMkLst>
        <pc:docMk/>
      </pc:docMkLst>
      <pc:sldChg chg="addSp delSp modSp mod modClrScheme chgLayout">
        <pc:chgData name="Raphael Wu" userId="222e91bd63df5811" providerId="LiveId" clId="{534A9F1F-5294-42C7-A279-6BCD5E88610A}" dt="2026-04-28T16:56:16.771" v="657"/>
        <pc:sldMkLst>
          <pc:docMk/>
          <pc:sldMk cId="1932736482" sldId="1786"/>
        </pc:sldMkLst>
        <pc:spChg chg="add mod">
          <ac:chgData name="Raphael Wu" userId="222e91bd63df5811" providerId="LiveId" clId="{534A9F1F-5294-42C7-A279-6BCD5E88610A}" dt="2026-04-28T16:56:16.771" v="657"/>
          <ac:spMkLst>
            <pc:docMk/>
            <pc:sldMk cId="1932736482" sldId="1786"/>
            <ac:spMk id="2" creationId="{6263174D-9A64-366A-6A59-F4F84DDA189A}"/>
          </ac:spMkLst>
        </pc:spChg>
        <pc:spChg chg="mod">
          <ac:chgData name="Raphael Wu" userId="222e91bd63df5811" providerId="LiveId" clId="{534A9F1F-5294-42C7-A279-6BCD5E88610A}" dt="2026-04-28T16:49:53.024" v="315" actId="6549"/>
          <ac:spMkLst>
            <pc:docMk/>
            <pc:sldMk cId="1932736482" sldId="1786"/>
            <ac:spMk id="7" creationId="{00000000-0000-0000-0000-000000000000}"/>
          </ac:spMkLst>
        </pc:spChg>
        <pc:spChg chg="add del mod">
          <ac:chgData name="Raphael Wu" userId="222e91bd63df5811" providerId="LiveId" clId="{534A9F1F-5294-42C7-A279-6BCD5E88610A}" dt="2026-04-28T16:28:50.600" v="127" actId="26606"/>
          <ac:spMkLst>
            <pc:docMk/>
            <pc:sldMk cId="1932736482" sldId="1786"/>
            <ac:spMk id="4102" creationId="{2F0A4A04-5D0A-3564-8B34-22F0368FA1CC}"/>
          </ac:spMkLst>
        </pc:spChg>
        <pc:spChg chg="add del mod">
          <ac:chgData name="Raphael Wu" userId="222e91bd63df5811" providerId="LiveId" clId="{534A9F1F-5294-42C7-A279-6BCD5E88610A}" dt="2026-04-28T16:28:33.709" v="100" actId="26606"/>
          <ac:spMkLst>
            <pc:docMk/>
            <pc:sldMk cId="1932736482" sldId="1786"/>
            <ac:spMk id="4105" creationId="{F30B511C-3254-4D78-72B3-CA260AF87E62}"/>
          </ac:spMkLst>
        </pc:spChg>
        <pc:picChg chg="add del mod">
          <ac:chgData name="Raphael Wu" userId="222e91bd63df5811" providerId="LiveId" clId="{534A9F1F-5294-42C7-A279-6BCD5E88610A}" dt="2026-04-28T16:53:09.303" v="320" actId="478"/>
          <ac:picMkLst>
            <pc:docMk/>
            <pc:sldMk cId="1932736482" sldId="1786"/>
            <ac:picMk id="4" creationId="{96C6F8BA-C4E1-5051-DA02-6CB3F3E0829E}"/>
          </ac:picMkLst>
        </pc:picChg>
        <pc:picChg chg="del mod">
          <ac:chgData name="Raphael Wu" userId="222e91bd63df5811" providerId="LiveId" clId="{534A9F1F-5294-42C7-A279-6BCD5E88610A}" dt="2026-04-28T16:28:58.792" v="130" actId="478"/>
          <ac:picMkLst>
            <pc:docMk/>
            <pc:sldMk cId="1932736482" sldId="1786"/>
            <ac:picMk id="4100" creationId="{00000000-0000-0000-0000-000000000000}"/>
          </ac:picMkLst>
        </pc:picChg>
      </pc:sldChg>
      <pc:sldChg chg="add del">
        <pc:chgData name="Raphael Wu" userId="222e91bd63df5811" providerId="LiveId" clId="{534A9F1F-5294-42C7-A279-6BCD5E88610A}" dt="2026-04-28T16:26:06.246" v="75" actId="47"/>
        <pc:sldMkLst>
          <pc:docMk/>
          <pc:sldMk cId="1145227835" sldId="1787"/>
        </pc:sldMkLst>
      </pc:sldChg>
      <pc:sldChg chg="modSp mod">
        <pc:chgData name="Raphael Wu" userId="222e91bd63df5811" providerId="LiveId" clId="{534A9F1F-5294-42C7-A279-6BCD5E88610A}" dt="2026-04-28T16:50:03.077" v="317" actId="20577"/>
        <pc:sldMkLst>
          <pc:docMk/>
          <pc:sldMk cId="888775061" sldId="1788"/>
        </pc:sldMkLst>
        <pc:spChg chg="mod">
          <ac:chgData name="Raphael Wu" userId="222e91bd63df5811" providerId="LiveId" clId="{534A9F1F-5294-42C7-A279-6BCD5E88610A}" dt="2026-04-28T16:50:03.077" v="317" actId="20577"/>
          <ac:spMkLst>
            <pc:docMk/>
            <pc:sldMk cId="888775061" sldId="1788"/>
            <ac:spMk id="7" creationId="{00000000-0000-0000-0000-000000000000}"/>
          </ac:spMkLst>
        </pc:spChg>
      </pc:sldChg>
      <pc:sldChg chg="addSp delSp modSp new add del mod">
        <pc:chgData name="Raphael Wu" userId="222e91bd63df5811" providerId="LiveId" clId="{534A9F1F-5294-42C7-A279-6BCD5E88610A}" dt="2026-04-28T16:50:06.592" v="318"/>
        <pc:sldMkLst>
          <pc:docMk/>
          <pc:sldMk cId="3143720186" sldId="1790"/>
        </pc:sldMkLst>
        <pc:spChg chg="add del">
          <ac:chgData name="Raphael Wu" userId="222e91bd63df5811" providerId="LiveId" clId="{534A9F1F-5294-42C7-A279-6BCD5E88610A}" dt="2026-04-28T16:26:06.806" v="78" actId="478"/>
          <ac:spMkLst>
            <pc:docMk/>
            <pc:sldMk cId="3143720186" sldId="1790"/>
            <ac:spMk id="2" creationId="{56FD1E11-8872-D8BA-2D6C-C5512FDAF4B5}"/>
          </ac:spMkLst>
        </pc:spChg>
        <pc:spChg chg="add del">
          <ac:chgData name="Raphael Wu" userId="222e91bd63df5811" providerId="LiveId" clId="{534A9F1F-5294-42C7-A279-6BCD5E88610A}" dt="2026-04-28T16:26:06.785" v="77" actId="478"/>
          <ac:spMkLst>
            <pc:docMk/>
            <pc:sldMk cId="3143720186" sldId="1790"/>
            <ac:spMk id="3" creationId="{C6D84A7A-821B-36E2-07E9-A9631CCC3E0E}"/>
          </ac:spMkLst>
        </pc:spChg>
        <pc:spChg chg="add mod">
          <ac:chgData name="Raphael Wu" userId="222e91bd63df5811" providerId="LiveId" clId="{534A9F1F-5294-42C7-A279-6BCD5E88610A}" dt="2026-04-28T16:50:06.592" v="318"/>
          <ac:spMkLst>
            <pc:docMk/>
            <pc:sldMk cId="3143720186" sldId="1790"/>
            <ac:spMk id="4" creationId="{2D4D2B73-B008-B5AD-CC0D-F1827BE7F03A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</a:t>
            </a:r>
            <a:r>
              <a:rPr lang="zh-TW" altLang="en-US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：</a:t>
            </a:r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2026/08/18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13912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/>
                <a:gridCol w="990596"/>
                <a:gridCol w="533400"/>
                <a:gridCol w="990600"/>
                <a:gridCol w="990600"/>
                <a:gridCol w="1600200"/>
                <a:gridCol w="1600200"/>
                <a:gridCol w="914404"/>
                <a:gridCol w="914399"/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</a:t>
                      </a:r>
                      <a:endParaRPr lang="en-US" altLang="zh-TW" sz="1200" b="1" dirty="0" smtClean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預計完成時間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366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 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Holder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旋入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+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扭力確認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2026/3/31</a:t>
                      </a:r>
                      <a:endParaRPr lang="en-US" altLang="zh-TW" sz="1200" b="0" strike="noStrike" baseline="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2026/7/30</a:t>
                      </a: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新扭力計測試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傅立葉擬合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Debug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傅立葉擬合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Debug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品質穩定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節省人力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2026/6/30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提升重工效率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3" action="ppaction://hlinksldjump"/>
                        </a:rPr>
                        <a:t>FAU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3" action="ppaction://hlinksldjump"/>
                        </a:rPr>
                        <a:t>驗證程式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2026/08/14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修改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UI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為兩個資料擷取。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資料擷取範圍設定增加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軸方向。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資料擷取範圍設定視覺化。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資料點繪圖。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求圓心。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計算模具傾斜。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匯出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CAD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檔及</a:t>
                      </a:r>
                      <a:r>
                        <a:rPr lang="en-US" altLang="zh-TW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EXCEL</a:t>
                      </a: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檔。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節省重覆計算時間</a:t>
                      </a:r>
                      <a:endParaRPr lang="en-US" altLang="zh-TW" sz="1200" dirty="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副理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D:\專案\366-Holder旋入裝置\測試數據\20260812\Snipaste_2026-08-12_11-24-20 - 複製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43400"/>
            <a:ext cx="9013501" cy="253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傅立葉擬合異常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8458200" cy="213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傅立葉擬合用於旋轉偏擺的補正。</a:t>
            </a:r>
            <a:endParaRPr lang="en-US" altLang="zh-TW" sz="2000" b="0" kern="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目前狀況是在數據陣列顯示的線型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有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兩端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下陷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或振盪問題 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4" name="Picture 2" descr="D:\專案\366-Holder旋入裝置\測試數據\20260810\Snipaste_2026-08-10_17-12-3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52600"/>
            <a:ext cx="9013501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50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41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可能的問題點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8001000" cy="5562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關鍵詞：</a:t>
            </a:r>
            <a:r>
              <a:rPr lang="zh-TW" altLang="en-US" sz="2000" kern="0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傅立葉</a:t>
            </a:r>
            <a:r>
              <a:rPr lang="zh-TW" altLang="en-US" sz="2000" kern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擬</a:t>
            </a:r>
            <a:r>
              <a:rPr lang="zh-TW" altLang="en-US" sz="2000" kern="0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合</a:t>
            </a:r>
            <a:r>
              <a:rPr lang="zh-TW" altLang="en-US" sz="2000" kern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會</a:t>
            </a:r>
            <a:r>
              <a:rPr lang="zh-TW" altLang="en-US" sz="2000" kern="0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強制</a:t>
            </a:r>
            <a:r>
              <a:rPr lang="zh-TW" altLang="en-US" sz="2000" kern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資料具有週期</a:t>
            </a:r>
            <a:r>
              <a:rPr lang="zh-TW" altLang="en-US" sz="2000" kern="0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性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X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= 0</a:t>
            </a:r>
            <a:r>
              <a:rPr lang="en-US" altLang="zh-TW" sz="2000" b="0" dirty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~359</a:t>
            </a:r>
            <a:r>
              <a:rPr lang="en-US" altLang="zh-TW" sz="2000" b="0" dirty="0">
                <a:latin typeface="Segoe UI" panose="020B0502040204020203" pitchFamily="34" charset="0"/>
                <a:cs typeface="Segoe UI" panose="020B0502040204020203" pitchFamily="34" charset="0"/>
              </a:rPr>
              <a:t>° </a:t>
            </a:r>
            <a:r>
              <a:rPr lang="el-GR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→ θ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 = 0~</a:t>
            </a:r>
            <a:r>
              <a:rPr lang="el-GR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2π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數學上 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f(0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°)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 = f(359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°)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，但實際是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？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資料不具週期性：角度範圍使用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~359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，但</a:t>
            </a:r>
            <a:r>
              <a:rPr lang="en-US" altLang="zh-TW" sz="2000" b="0" dirty="0" smtClean="0"/>
              <a:t>359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連接</a:t>
            </a:r>
            <a:r>
              <a:rPr lang="en-US" altLang="zh-TW" sz="2000" b="0" dirty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-US" altLang="zh-TW" sz="2000" b="0" dirty="0"/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的資料差距太大，傅立葉擬合會強制把兩</a:t>
            </a:r>
            <a:r>
              <a:rPr lang="zh-TW" altLang="en-US" sz="2000" b="0" dirty="0">
                <a:latin typeface="Segoe UI" panose="020B0502040204020203" pitchFamily="34" charset="0"/>
                <a:cs typeface="Segoe UI" panose="020B0502040204020203" pitchFamily="34" charset="0"/>
              </a:rPr>
              <a:t>個數值逼近，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造成線型變化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吉布斯現象 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Gibbs phenomenon) 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值是扭力計的數值，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如果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和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359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時讀取的值有差距，是否為造成線型機率性變化的原因？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讀值在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0.310~0.315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之間有間隙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如果扭力計的讀值無法使</a:t>
            </a:r>
            <a:r>
              <a:rPr lang="en-US" altLang="zh-TW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及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359</a:t>
            </a:r>
            <a:r>
              <a:rPr lang="en-US" altLang="zh-TW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°</a:t>
            </a:r>
            <a:r>
              <a:rPr lang="zh-TW" altLang="en-US" sz="2000" b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的值有連續性，可能需尋找另一種擬合方法。</a:t>
            </a:r>
            <a:endParaRPr lang="en-US" altLang="zh-TW" sz="2000" b="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2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41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幾種異常現象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250362" y="914399"/>
            <a:ext cx="8496000" cy="2808000"/>
            <a:chOff x="250362" y="914399"/>
            <a:chExt cx="8496000" cy="2808000"/>
          </a:xfrm>
        </p:grpSpPr>
        <p:pic>
          <p:nvPicPr>
            <p:cNvPr id="4099" name="Picture 3" descr="D:\專案\366-Holder旋入裝置\測試數據\20260812\Snipaste_2026-08-12_14-39-18.jpg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362" y="914399"/>
              <a:ext cx="8496000" cy="28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8" name="Picture 2" descr="D:\專案\366-Holder旋入裝置\測試數據\20260812\Snipaste_2026-08-12_14-39-1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8772" y="1066800"/>
              <a:ext cx="3467100" cy="333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群組 3"/>
          <p:cNvGrpSpPr/>
          <p:nvPr/>
        </p:nvGrpSpPr>
        <p:grpSpPr>
          <a:xfrm>
            <a:off x="250362" y="3722399"/>
            <a:ext cx="8496000" cy="2808000"/>
            <a:chOff x="250362" y="3722399"/>
            <a:chExt cx="8496000" cy="2808000"/>
          </a:xfrm>
        </p:grpSpPr>
        <p:pic>
          <p:nvPicPr>
            <p:cNvPr id="4101" name="Picture 5" descr="D:\專案\366-Holder旋入裝置\測試數據\20260812\Snipaste_2026-08-12_14-40-42.jpg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362" y="3722399"/>
              <a:ext cx="8496000" cy="28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D:\專案\366-Holder旋入裝置\測試數據\20260812\Snipaste_2026-08-12_14-40-36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6872" y="3886200"/>
              <a:ext cx="3371850" cy="333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498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D:\專案\366-Holder旋入裝置\測試數據\20260812\Snipaste_2026-08-12_14-57-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496000" cy="360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41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幾種異常現象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" name="動作按鈕: 下一項 6">
            <a:hlinkClick r:id="rId3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pic>
        <p:nvPicPr>
          <p:cNvPr id="5122" name="Picture 2" descr="D:\專案\366-Holder旋入裝置\測試數據\20260812\Snipaste_2026-08-12_14-57-1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447800"/>
            <a:ext cx="34671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65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橢圓 29"/>
          <p:cNvSpPr/>
          <p:nvPr/>
        </p:nvSpPr>
        <p:spPr bwMode="auto">
          <a:xfrm>
            <a:off x="4973702" y="4676775"/>
            <a:ext cx="990600" cy="9906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31" name="橢圓 30"/>
          <p:cNvSpPr/>
          <p:nvPr/>
        </p:nvSpPr>
        <p:spPr bwMode="auto">
          <a:xfrm>
            <a:off x="2992502" y="4829175"/>
            <a:ext cx="990600" cy="9906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新完成功能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1066800"/>
            <a:ext cx="8359646" cy="3581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原始圖形與演算後圖形分離：</a:t>
            </a:r>
            <a:r>
              <a:rPr lang="en-US" altLang="zh-TW" sz="2000" b="0" kern="0" dirty="0" smtClean="0">
                <a:latin typeface="+mn-ea"/>
                <a:ea typeface="+mn-ea"/>
              </a:rPr>
              <a:t/>
            </a:r>
            <a:br>
              <a:rPr lang="en-US" altLang="zh-TW" sz="2000" b="0" kern="0" dirty="0" smtClean="0">
                <a:latin typeface="+mn-ea"/>
                <a:ea typeface="+mn-ea"/>
              </a:rPr>
            </a:br>
            <a:r>
              <a:rPr lang="zh-TW" altLang="en-US" sz="2000" b="0" kern="0" dirty="0" smtClean="0">
                <a:latin typeface="+mn-ea"/>
                <a:ea typeface="+mn-ea"/>
              </a:rPr>
              <a:t>原始圖形專注在參數</a:t>
            </a:r>
            <a:r>
              <a:rPr lang="zh-TW" altLang="en-US" sz="2000" b="0" kern="0" dirty="0">
                <a:latin typeface="+mn-ea"/>
                <a:ea typeface="+mn-ea"/>
              </a:rPr>
              <a:t>設定；演算後</a:t>
            </a:r>
            <a:r>
              <a:rPr lang="zh-TW" altLang="en-US" sz="2000" b="0" kern="0" dirty="0" smtClean="0">
                <a:latin typeface="+mn-ea"/>
                <a:ea typeface="+mn-ea"/>
              </a:rPr>
              <a:t>圖形專注在結果確認。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可以設定最</a:t>
            </a:r>
            <a:r>
              <a:rPr lang="zh-TW" altLang="en-US" sz="2000" b="0" kern="0" dirty="0">
                <a:latin typeface="+mn-ea"/>
                <a:ea typeface="+mn-ea"/>
              </a:rPr>
              <a:t>左側為基準</a:t>
            </a:r>
            <a:r>
              <a:rPr lang="zh-TW" altLang="en-US" sz="2000" b="0" kern="0" dirty="0" smtClean="0">
                <a:latin typeface="+mn-ea"/>
                <a:ea typeface="+mn-ea"/>
              </a:rPr>
              <a:t>圓</a:t>
            </a:r>
            <a:r>
              <a:rPr lang="en-US" altLang="zh-TW" sz="2000" b="0" kern="0" dirty="0" smtClean="0">
                <a:latin typeface="+mn-ea"/>
                <a:ea typeface="+mn-ea"/>
              </a:rPr>
              <a:t>(</a:t>
            </a:r>
            <a:r>
              <a:rPr lang="zh-TW" altLang="en-US" sz="2000" b="0" kern="0" dirty="0" smtClean="0">
                <a:latin typeface="+mn-ea"/>
                <a:ea typeface="+mn-ea"/>
              </a:rPr>
              <a:t>如下圖紅線</a:t>
            </a:r>
            <a:r>
              <a:rPr lang="en-US" altLang="zh-TW" sz="2000" b="0" kern="0" dirty="0" smtClean="0">
                <a:latin typeface="+mn-ea"/>
                <a:ea typeface="+mn-ea"/>
              </a:rPr>
              <a:t>)</a:t>
            </a:r>
            <a:r>
              <a:rPr lang="zh-TW" altLang="en-US" sz="2000" b="0" kern="0" dirty="0">
                <a:latin typeface="+mn-ea"/>
                <a:ea typeface="+mn-ea"/>
              </a:rPr>
              <a:t>，或最右側為基準</a:t>
            </a:r>
            <a:r>
              <a:rPr lang="zh-TW" altLang="en-US" sz="2000" b="0" kern="0" dirty="0" smtClean="0">
                <a:latin typeface="+mn-ea"/>
                <a:ea typeface="+mn-ea"/>
              </a:rPr>
              <a:t>圓</a:t>
            </a:r>
            <a:r>
              <a:rPr lang="en-US" altLang="zh-TW" sz="2000" b="0" kern="0" dirty="0" smtClean="0">
                <a:latin typeface="+mn-ea"/>
                <a:ea typeface="+mn-ea"/>
              </a:rPr>
              <a:t>(</a:t>
            </a:r>
            <a:r>
              <a:rPr lang="zh-TW" altLang="en-US" sz="2000" b="0" kern="0" dirty="0">
                <a:latin typeface="+mn-ea"/>
                <a:ea typeface="+mn-ea"/>
              </a:rPr>
              <a:t>如下</a:t>
            </a:r>
            <a:r>
              <a:rPr lang="zh-TW" altLang="en-US" sz="2000" b="0" kern="0" dirty="0" smtClean="0">
                <a:latin typeface="+mn-ea"/>
                <a:ea typeface="+mn-ea"/>
              </a:rPr>
              <a:t>圖綠線</a:t>
            </a:r>
            <a:r>
              <a:rPr lang="en-US" altLang="zh-TW" sz="2000" b="0" kern="0" dirty="0">
                <a:latin typeface="+mn-ea"/>
                <a:ea typeface="+mn-ea"/>
              </a:rPr>
              <a:t>)</a:t>
            </a:r>
            <a:r>
              <a:rPr lang="zh-TW" altLang="en-US" sz="2000" b="0" kern="0" dirty="0" smtClean="0">
                <a:latin typeface="+mn-ea"/>
                <a:ea typeface="+mn-ea"/>
              </a:rPr>
              <a:t>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拉平時，</a:t>
            </a:r>
            <a:r>
              <a:rPr lang="zh-TW" altLang="en-US" sz="2000" b="0" kern="0" dirty="0">
                <a:latin typeface="+mn-ea"/>
                <a:ea typeface="+mn-ea"/>
              </a:rPr>
              <a:t>可設定最終</a:t>
            </a:r>
            <a:r>
              <a:rPr lang="zh-TW" altLang="en-US" sz="2000" b="0" kern="0" dirty="0" smtClean="0">
                <a:latin typeface="+mn-ea"/>
                <a:ea typeface="+mn-ea"/>
              </a:rPr>
              <a:t>圓的</a:t>
            </a:r>
            <a:r>
              <a:rPr lang="en-US" altLang="zh-TW" sz="2000" b="0" kern="0" dirty="0" smtClean="0">
                <a:latin typeface="+mn-ea"/>
                <a:ea typeface="+mn-ea"/>
              </a:rPr>
              <a:t>Y</a:t>
            </a:r>
            <a:r>
              <a:rPr lang="zh-TW" altLang="en-US" sz="2000" b="0" kern="0" dirty="0" smtClean="0">
                <a:latin typeface="+mn-ea"/>
                <a:ea typeface="+mn-ea"/>
              </a:rPr>
              <a:t>軸偏移值</a:t>
            </a:r>
            <a:r>
              <a:rPr lang="en-US" altLang="zh-TW" sz="2000" b="0" kern="0" dirty="0" smtClean="0">
                <a:latin typeface="+mn-ea"/>
                <a:ea typeface="+mn-ea"/>
              </a:rPr>
              <a:t>(</a:t>
            </a:r>
            <a:r>
              <a:rPr lang="zh-TW" altLang="en-US" sz="2000" b="0" kern="0" dirty="0" smtClean="0">
                <a:latin typeface="+mn-ea"/>
                <a:ea typeface="+mn-ea"/>
              </a:rPr>
              <a:t>不一定等高</a:t>
            </a:r>
            <a:r>
              <a:rPr lang="en-US" altLang="zh-TW" sz="2000" b="0" kern="0" dirty="0" smtClean="0">
                <a:latin typeface="+mn-ea"/>
                <a:ea typeface="+mn-ea"/>
              </a:rPr>
              <a:t>)</a:t>
            </a:r>
            <a:r>
              <a:rPr lang="zh-TW" altLang="en-US" sz="2000" b="0" kern="0" dirty="0" smtClean="0">
                <a:latin typeface="+mn-ea"/>
                <a:ea typeface="+mn-ea"/>
              </a:rPr>
              <a:t>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輸入的參數值會暫存在磁碟內，下次開啟程式時不需重新輸入。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endParaRPr lang="en-US" altLang="zh-TW" sz="2000" b="0" kern="0" dirty="0" smtClean="0">
              <a:latin typeface="+mn-ea"/>
              <a:ea typeface="+mn-ea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1763777" y="4905375"/>
            <a:ext cx="990600" cy="9906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1" name="橢圓 10"/>
          <p:cNvSpPr/>
          <p:nvPr/>
        </p:nvSpPr>
        <p:spPr bwMode="auto">
          <a:xfrm>
            <a:off x="6335777" y="4562475"/>
            <a:ext cx="990600" cy="9906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cxnSp>
        <p:nvCxnSpPr>
          <p:cNvPr id="9" name="直線接點 8"/>
          <p:cNvCxnSpPr/>
          <p:nvPr/>
        </p:nvCxnSpPr>
        <p:spPr bwMode="auto">
          <a:xfrm flipV="1">
            <a:off x="2259077" y="5057775"/>
            <a:ext cx="4572000" cy="3429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線接點 13"/>
          <p:cNvCxnSpPr/>
          <p:nvPr/>
        </p:nvCxnSpPr>
        <p:spPr bwMode="auto">
          <a:xfrm>
            <a:off x="2259077" y="5400675"/>
            <a:ext cx="457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接點 21"/>
          <p:cNvCxnSpPr/>
          <p:nvPr/>
        </p:nvCxnSpPr>
        <p:spPr bwMode="auto">
          <a:xfrm flipV="1">
            <a:off x="2259077" y="5057775"/>
            <a:ext cx="0" cy="342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接點 24"/>
          <p:cNvCxnSpPr/>
          <p:nvPr/>
        </p:nvCxnSpPr>
        <p:spPr bwMode="auto">
          <a:xfrm>
            <a:off x="6831077" y="5057775"/>
            <a:ext cx="0" cy="342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接點 27"/>
          <p:cNvCxnSpPr/>
          <p:nvPr/>
        </p:nvCxnSpPr>
        <p:spPr bwMode="auto">
          <a:xfrm>
            <a:off x="2259077" y="5057775"/>
            <a:ext cx="457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9938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後續項目：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3" name="動作按鈕: 下一項 22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7848600" cy="4800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EXCEL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輸出已完成</a:t>
            </a: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60%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  <a:endParaRPr lang="en-US" altLang="zh-TW" sz="2000" b="0" kern="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TW" sz="2000" b="0" kern="0" dirty="0" smtClean="0"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各軸高度偏移分別設定。</a:t>
            </a:r>
            <a:endParaRPr lang="en-US" altLang="zh-TW" sz="2000" b="0" kern="0" dirty="0" smtClean="0"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CAD</a:t>
            </a:r>
            <a:r>
              <a:rPr lang="zh-TW" altLang="en-US" sz="2000" b="0" kern="0" dirty="0" smtClean="0">
                <a:latin typeface="Segoe UI" panose="020B0502040204020203" pitchFamily="34" charset="0"/>
                <a:cs typeface="Segoe UI" panose="020B0502040204020203" pitchFamily="34" charset="0"/>
              </a:rPr>
              <a:t>檔輸出。</a:t>
            </a:r>
            <a:endParaRPr lang="en-US" altLang="zh-TW" sz="2000" b="0" kern="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TW" sz="2000" b="0" kern="0" dirty="0" smtClean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BUG</a:t>
            </a:r>
            <a:r>
              <a:rPr lang="zh-TW" altLang="en-US" sz="2000" b="0" kern="0" dirty="0" smtClean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修正。</a:t>
            </a:r>
            <a:endParaRPr lang="en-US" altLang="zh-TW" sz="2000" b="0" kern="0" dirty="0"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TW" sz="2000" b="0" kern="0" dirty="0" smtClean="0"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※568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四合一插入機改機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914399"/>
            <a:ext cx="8283446" cy="9906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關閉</a:t>
            </a:r>
            <a:r>
              <a:rPr lang="en-US" altLang="zh-TW" sz="2000" b="0" kern="0" dirty="0" smtClean="0">
                <a:latin typeface="+mn-ea"/>
              </a:rPr>
              <a:t>S1</a:t>
            </a:r>
            <a:r>
              <a:rPr lang="zh-TW" altLang="en-US" sz="2000" b="0" kern="0" dirty="0" smtClean="0">
                <a:latin typeface="+mn-ea"/>
              </a:rPr>
              <a:t>吸嘴動作。</a:t>
            </a:r>
            <a:endParaRPr lang="en-US" altLang="zh-TW" sz="2000" b="0" kern="0" dirty="0">
              <a:latin typeface="+mn-ea"/>
              <a:ea typeface="+mn-ea"/>
            </a:endParaRPr>
          </a:p>
        </p:txBody>
      </p:sp>
      <p:pic>
        <p:nvPicPr>
          <p:cNvPr id="3074" name="Picture 2" descr="D:\專案\維修_改機\20260810\568四合一插入機_Disable 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39" y="1771650"/>
            <a:ext cx="5426075" cy="43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橢圓 1"/>
          <p:cNvSpPr/>
          <p:nvPr/>
        </p:nvSpPr>
        <p:spPr bwMode="auto">
          <a:xfrm>
            <a:off x="4800600" y="2674144"/>
            <a:ext cx="1066800" cy="2590800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6" name="動作按鈕: 下一項 5">
            <a:hlinkClick r:id="rId3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3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153242</TotalTime>
  <Words>274</Words>
  <Application>Microsoft Office PowerPoint</Application>
  <PresentationFormat>如螢幕大小 (4:3)</PresentationFormat>
  <Paragraphs>85</Paragraphs>
  <Slides>10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10790</cp:revision>
  <cp:lastPrinted>2019-02-20T00:08:27Z</cp:lastPrinted>
  <dcterms:created xsi:type="dcterms:W3CDTF">2003-08-13T01:23:13Z</dcterms:created>
  <dcterms:modified xsi:type="dcterms:W3CDTF">2026-08-17T09:19:26Z</dcterms:modified>
</cp:coreProperties>
</file>